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86" r:id="rId2"/>
    <p:sldId id="290" r:id="rId3"/>
    <p:sldId id="293" r:id="rId4"/>
    <p:sldId id="294" r:id="rId5"/>
    <p:sldId id="295" r:id="rId6"/>
    <p:sldId id="296" r:id="rId7"/>
    <p:sldId id="297" r:id="rId8"/>
    <p:sldId id="299" r:id="rId9"/>
    <p:sldId id="298" r:id="rId10"/>
  </p:sldIdLst>
  <p:sldSz cx="12192000" cy="6858000"/>
  <p:notesSz cx="9926638" cy="6797675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A5E2"/>
    <a:srgbClr val="AAD0F0"/>
    <a:srgbClr val="F8D7CE"/>
    <a:srgbClr val="E87989"/>
    <a:srgbClr val="B11D09"/>
    <a:srgbClr val="A7190E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75" autoAdjust="0"/>
  </p:normalViewPr>
  <p:slideViewPr>
    <p:cSldViewPr snapToObjects="1">
      <p:cViewPr varScale="1">
        <p:scale>
          <a:sx n="46" d="100"/>
          <a:sy n="46" d="100"/>
        </p:scale>
        <p:origin x="4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799FA2-6002-4127-8566-203E62B1A182}" type="doc">
      <dgm:prSet loTypeId="urn:microsoft.com/office/officeart/2005/8/layout/process4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pl-PL"/>
        </a:p>
      </dgm:t>
    </dgm:pt>
    <dgm:pt modelId="{E8360580-FB37-4AAD-996A-3EDFAE271AFC}">
      <dgm:prSet phldrT="[Tekst]"/>
      <dgm:spPr/>
      <dgm:t>
        <a:bodyPr/>
        <a:lstStyle/>
        <a:p>
          <a:pPr>
            <a:buNone/>
          </a:pPr>
          <a:r>
            <a:rPr lang="pl-PL" dirty="0"/>
            <a:t>pojawienie się patologii w obrębie przestrzeni wewnątrzczaszkowej </a:t>
          </a:r>
        </a:p>
      </dgm:t>
    </dgm:pt>
    <dgm:pt modelId="{AE5B52AA-825F-4C44-BCB4-A75E8FAA5029}" type="parTrans" cxnId="{3A84D10F-BDF5-457B-86DD-26431FE9E4A5}">
      <dgm:prSet/>
      <dgm:spPr/>
      <dgm:t>
        <a:bodyPr/>
        <a:lstStyle/>
        <a:p>
          <a:endParaRPr lang="pl-PL"/>
        </a:p>
      </dgm:t>
    </dgm:pt>
    <dgm:pt modelId="{767DD270-43EF-483E-9803-63A31B15A8DE}" type="sibTrans" cxnId="{3A84D10F-BDF5-457B-86DD-26431FE9E4A5}">
      <dgm:prSet/>
      <dgm:spPr/>
      <dgm:t>
        <a:bodyPr/>
        <a:lstStyle/>
        <a:p>
          <a:endParaRPr lang="pl-PL"/>
        </a:p>
      </dgm:t>
    </dgm:pt>
    <dgm:pt modelId="{EA672E09-9045-4DE8-8A78-D317D57B6E4D}">
      <dgm:prSet phldrT="[Tekst]"/>
      <dgm:spPr/>
      <dgm:t>
        <a:bodyPr/>
        <a:lstStyle/>
        <a:p>
          <a:pPr>
            <a:buNone/>
          </a:pPr>
          <a:r>
            <a:rPr lang="pl-PL" dirty="0"/>
            <a:t>znaczny wzrost objętości </a:t>
          </a:r>
        </a:p>
      </dgm:t>
    </dgm:pt>
    <dgm:pt modelId="{27E4ADF4-E78F-4AD2-9A80-4CFA2683A868}" type="parTrans" cxnId="{917A6679-42A0-433E-9558-6A0AEF912FA4}">
      <dgm:prSet/>
      <dgm:spPr/>
      <dgm:t>
        <a:bodyPr/>
        <a:lstStyle/>
        <a:p>
          <a:endParaRPr lang="pl-PL"/>
        </a:p>
      </dgm:t>
    </dgm:pt>
    <dgm:pt modelId="{6B0635AC-7E31-435A-B311-207F896676E4}" type="sibTrans" cxnId="{917A6679-42A0-433E-9558-6A0AEF912FA4}">
      <dgm:prSet/>
      <dgm:spPr/>
      <dgm:t>
        <a:bodyPr/>
        <a:lstStyle/>
        <a:p>
          <a:endParaRPr lang="pl-PL"/>
        </a:p>
      </dgm:t>
    </dgm:pt>
    <dgm:pt modelId="{117670B1-D199-4851-BD25-4583DC9C426A}">
      <dgm:prSet phldrT="[Tekst]"/>
      <dgm:spPr/>
      <dgm:t>
        <a:bodyPr/>
        <a:lstStyle/>
        <a:p>
          <a:pPr>
            <a:buNone/>
          </a:pPr>
          <a:r>
            <a:rPr lang="pl-PL" dirty="0"/>
            <a:t>spadek podatności</a:t>
          </a:r>
        </a:p>
      </dgm:t>
    </dgm:pt>
    <dgm:pt modelId="{67F0CBE3-5508-47F3-B032-D719F78610BA}" type="parTrans" cxnId="{2036078B-35DF-431D-B3AD-70F0BB8F6C86}">
      <dgm:prSet/>
      <dgm:spPr/>
      <dgm:t>
        <a:bodyPr/>
        <a:lstStyle/>
        <a:p>
          <a:endParaRPr lang="pl-PL"/>
        </a:p>
      </dgm:t>
    </dgm:pt>
    <dgm:pt modelId="{A9727A50-464D-46DA-A135-D195B17CF4EF}" type="sibTrans" cxnId="{2036078B-35DF-431D-B3AD-70F0BB8F6C86}">
      <dgm:prSet/>
      <dgm:spPr/>
      <dgm:t>
        <a:bodyPr/>
        <a:lstStyle/>
        <a:p>
          <a:endParaRPr lang="pl-PL"/>
        </a:p>
      </dgm:t>
    </dgm:pt>
    <dgm:pt modelId="{C4444F18-7419-4EC8-8DEC-D56590EE9237}">
      <dgm:prSet phldrT="[Tekst]"/>
      <dgm:spPr/>
      <dgm:t>
        <a:bodyPr/>
        <a:lstStyle/>
        <a:p>
          <a:pPr>
            <a:buNone/>
          </a:pPr>
          <a:r>
            <a:rPr lang="pl-PL"/>
            <a:t>wzrost ciśnienia</a:t>
          </a:r>
          <a:endParaRPr lang="pl-PL" dirty="0"/>
        </a:p>
      </dgm:t>
    </dgm:pt>
    <dgm:pt modelId="{44E48B49-FF66-46F9-9295-EE5459ED46FC}" type="parTrans" cxnId="{F4822D97-78DA-46F1-9720-129B59496D22}">
      <dgm:prSet/>
      <dgm:spPr/>
      <dgm:t>
        <a:bodyPr/>
        <a:lstStyle/>
        <a:p>
          <a:endParaRPr lang="pl-PL"/>
        </a:p>
      </dgm:t>
    </dgm:pt>
    <dgm:pt modelId="{CDA1D6E7-8A36-4CFE-B53D-85856CAD426D}" type="sibTrans" cxnId="{F4822D97-78DA-46F1-9720-129B59496D22}">
      <dgm:prSet/>
      <dgm:spPr/>
      <dgm:t>
        <a:bodyPr/>
        <a:lstStyle/>
        <a:p>
          <a:endParaRPr lang="pl-PL"/>
        </a:p>
      </dgm:t>
    </dgm:pt>
    <dgm:pt modelId="{8058EAA6-50AB-4D03-A726-56CD7B3FF8B6}" type="pres">
      <dgm:prSet presAssocID="{AD799FA2-6002-4127-8566-203E62B1A182}" presName="Name0" presStyleCnt="0">
        <dgm:presLayoutVars>
          <dgm:dir/>
          <dgm:animLvl val="lvl"/>
          <dgm:resizeHandles val="exact"/>
        </dgm:presLayoutVars>
      </dgm:prSet>
      <dgm:spPr/>
    </dgm:pt>
    <dgm:pt modelId="{64AED6C8-F3A1-4AC5-AA02-1B4F4B02ACAD}" type="pres">
      <dgm:prSet presAssocID="{C4444F18-7419-4EC8-8DEC-D56590EE9237}" presName="boxAndChildren" presStyleCnt="0"/>
      <dgm:spPr/>
    </dgm:pt>
    <dgm:pt modelId="{71C9B9EE-6886-4E68-9344-3F6CC0F40840}" type="pres">
      <dgm:prSet presAssocID="{C4444F18-7419-4EC8-8DEC-D56590EE9237}" presName="parentTextBox" presStyleLbl="node1" presStyleIdx="0" presStyleCnt="4"/>
      <dgm:spPr/>
    </dgm:pt>
    <dgm:pt modelId="{CD47450D-CCB3-4210-93CE-04ED1983120D}" type="pres">
      <dgm:prSet presAssocID="{A9727A50-464D-46DA-A135-D195B17CF4EF}" presName="sp" presStyleCnt="0"/>
      <dgm:spPr/>
    </dgm:pt>
    <dgm:pt modelId="{078F2C87-0A6E-4C66-A9F2-56AE88DC3667}" type="pres">
      <dgm:prSet presAssocID="{117670B1-D199-4851-BD25-4583DC9C426A}" presName="arrowAndChildren" presStyleCnt="0"/>
      <dgm:spPr/>
    </dgm:pt>
    <dgm:pt modelId="{DEDFFCAF-77E2-44F8-92C2-33122216DBCB}" type="pres">
      <dgm:prSet presAssocID="{117670B1-D199-4851-BD25-4583DC9C426A}" presName="parentTextArrow" presStyleLbl="node1" presStyleIdx="1" presStyleCnt="4"/>
      <dgm:spPr/>
    </dgm:pt>
    <dgm:pt modelId="{D169EB5A-DD0C-44C1-85A4-D2BDAB28FE2C}" type="pres">
      <dgm:prSet presAssocID="{6B0635AC-7E31-435A-B311-207F896676E4}" presName="sp" presStyleCnt="0"/>
      <dgm:spPr/>
    </dgm:pt>
    <dgm:pt modelId="{FD1DD917-B38E-45E3-8D65-AC446E0114F0}" type="pres">
      <dgm:prSet presAssocID="{EA672E09-9045-4DE8-8A78-D317D57B6E4D}" presName="arrowAndChildren" presStyleCnt="0"/>
      <dgm:spPr/>
    </dgm:pt>
    <dgm:pt modelId="{F32F4C41-C937-4EA2-8478-2399AA32FB5A}" type="pres">
      <dgm:prSet presAssocID="{EA672E09-9045-4DE8-8A78-D317D57B6E4D}" presName="parentTextArrow" presStyleLbl="node1" presStyleIdx="2" presStyleCnt="4"/>
      <dgm:spPr/>
    </dgm:pt>
    <dgm:pt modelId="{2F2C9FA8-41E6-4073-888A-066D5A9D5441}" type="pres">
      <dgm:prSet presAssocID="{767DD270-43EF-483E-9803-63A31B15A8DE}" presName="sp" presStyleCnt="0"/>
      <dgm:spPr/>
    </dgm:pt>
    <dgm:pt modelId="{B285D08D-F08F-48CE-96BF-8C56CE4B3309}" type="pres">
      <dgm:prSet presAssocID="{E8360580-FB37-4AAD-996A-3EDFAE271AFC}" presName="arrowAndChildren" presStyleCnt="0"/>
      <dgm:spPr/>
    </dgm:pt>
    <dgm:pt modelId="{88DF27BD-A4CA-43DA-9698-FE122B61EA52}" type="pres">
      <dgm:prSet presAssocID="{E8360580-FB37-4AAD-996A-3EDFAE271AFC}" presName="parentTextArrow" presStyleLbl="node1" presStyleIdx="3" presStyleCnt="4"/>
      <dgm:spPr/>
    </dgm:pt>
  </dgm:ptLst>
  <dgm:cxnLst>
    <dgm:cxn modelId="{3A84D10F-BDF5-457B-86DD-26431FE9E4A5}" srcId="{AD799FA2-6002-4127-8566-203E62B1A182}" destId="{E8360580-FB37-4AAD-996A-3EDFAE271AFC}" srcOrd="0" destOrd="0" parTransId="{AE5B52AA-825F-4C44-BCB4-A75E8FAA5029}" sibTransId="{767DD270-43EF-483E-9803-63A31B15A8DE}"/>
    <dgm:cxn modelId="{917A6679-42A0-433E-9558-6A0AEF912FA4}" srcId="{AD799FA2-6002-4127-8566-203E62B1A182}" destId="{EA672E09-9045-4DE8-8A78-D317D57B6E4D}" srcOrd="1" destOrd="0" parTransId="{27E4ADF4-E78F-4AD2-9A80-4CFA2683A868}" sibTransId="{6B0635AC-7E31-435A-B311-207F896676E4}"/>
    <dgm:cxn modelId="{30D89C8A-67A3-453C-BBC6-4C28C24B534C}" type="presOf" srcId="{C4444F18-7419-4EC8-8DEC-D56590EE9237}" destId="{71C9B9EE-6886-4E68-9344-3F6CC0F40840}" srcOrd="0" destOrd="0" presId="urn:microsoft.com/office/officeart/2005/8/layout/process4"/>
    <dgm:cxn modelId="{2036078B-35DF-431D-B3AD-70F0BB8F6C86}" srcId="{AD799FA2-6002-4127-8566-203E62B1A182}" destId="{117670B1-D199-4851-BD25-4583DC9C426A}" srcOrd="2" destOrd="0" parTransId="{67F0CBE3-5508-47F3-B032-D719F78610BA}" sibTransId="{A9727A50-464D-46DA-A135-D195B17CF4EF}"/>
    <dgm:cxn modelId="{F4822D97-78DA-46F1-9720-129B59496D22}" srcId="{AD799FA2-6002-4127-8566-203E62B1A182}" destId="{C4444F18-7419-4EC8-8DEC-D56590EE9237}" srcOrd="3" destOrd="0" parTransId="{44E48B49-FF66-46F9-9295-EE5459ED46FC}" sibTransId="{CDA1D6E7-8A36-4CFE-B53D-85856CAD426D}"/>
    <dgm:cxn modelId="{85E3759C-60FF-41B8-BC9B-C6C97909F731}" type="presOf" srcId="{AD799FA2-6002-4127-8566-203E62B1A182}" destId="{8058EAA6-50AB-4D03-A726-56CD7B3FF8B6}" srcOrd="0" destOrd="0" presId="urn:microsoft.com/office/officeart/2005/8/layout/process4"/>
    <dgm:cxn modelId="{0DB92FAD-FB3F-4115-AE95-01824A3E3A61}" type="presOf" srcId="{E8360580-FB37-4AAD-996A-3EDFAE271AFC}" destId="{88DF27BD-A4CA-43DA-9698-FE122B61EA52}" srcOrd="0" destOrd="0" presId="urn:microsoft.com/office/officeart/2005/8/layout/process4"/>
    <dgm:cxn modelId="{941EA5EB-8A8A-4404-A7C9-B3440089CB0B}" type="presOf" srcId="{EA672E09-9045-4DE8-8A78-D317D57B6E4D}" destId="{F32F4C41-C937-4EA2-8478-2399AA32FB5A}" srcOrd="0" destOrd="0" presId="urn:microsoft.com/office/officeart/2005/8/layout/process4"/>
    <dgm:cxn modelId="{AB5567F1-F27C-4294-887E-D071A1B19ABF}" type="presOf" srcId="{117670B1-D199-4851-BD25-4583DC9C426A}" destId="{DEDFFCAF-77E2-44F8-92C2-33122216DBCB}" srcOrd="0" destOrd="0" presId="urn:microsoft.com/office/officeart/2005/8/layout/process4"/>
    <dgm:cxn modelId="{A96A478A-75E4-4DDD-89D0-2DB34F5123D5}" type="presParOf" srcId="{8058EAA6-50AB-4D03-A726-56CD7B3FF8B6}" destId="{64AED6C8-F3A1-4AC5-AA02-1B4F4B02ACAD}" srcOrd="0" destOrd="0" presId="urn:microsoft.com/office/officeart/2005/8/layout/process4"/>
    <dgm:cxn modelId="{07F22AD1-F113-4192-B66A-BC280809EB68}" type="presParOf" srcId="{64AED6C8-F3A1-4AC5-AA02-1B4F4B02ACAD}" destId="{71C9B9EE-6886-4E68-9344-3F6CC0F40840}" srcOrd="0" destOrd="0" presId="urn:microsoft.com/office/officeart/2005/8/layout/process4"/>
    <dgm:cxn modelId="{1F443A91-8AA8-44F9-B5CF-7CDAC4E67D0D}" type="presParOf" srcId="{8058EAA6-50AB-4D03-A726-56CD7B3FF8B6}" destId="{CD47450D-CCB3-4210-93CE-04ED1983120D}" srcOrd="1" destOrd="0" presId="urn:microsoft.com/office/officeart/2005/8/layout/process4"/>
    <dgm:cxn modelId="{462F9EEA-2622-473A-A2E3-58CFA059AB7C}" type="presParOf" srcId="{8058EAA6-50AB-4D03-A726-56CD7B3FF8B6}" destId="{078F2C87-0A6E-4C66-A9F2-56AE88DC3667}" srcOrd="2" destOrd="0" presId="urn:microsoft.com/office/officeart/2005/8/layout/process4"/>
    <dgm:cxn modelId="{460FFA9B-5D5E-484D-8751-B1335FA68E4B}" type="presParOf" srcId="{078F2C87-0A6E-4C66-A9F2-56AE88DC3667}" destId="{DEDFFCAF-77E2-44F8-92C2-33122216DBCB}" srcOrd="0" destOrd="0" presId="urn:microsoft.com/office/officeart/2005/8/layout/process4"/>
    <dgm:cxn modelId="{FDA387A0-C28B-49A2-B877-452EE1B7FBB0}" type="presParOf" srcId="{8058EAA6-50AB-4D03-A726-56CD7B3FF8B6}" destId="{D169EB5A-DD0C-44C1-85A4-D2BDAB28FE2C}" srcOrd="3" destOrd="0" presId="urn:microsoft.com/office/officeart/2005/8/layout/process4"/>
    <dgm:cxn modelId="{EF048C39-DAEC-4D22-AC53-EBAA92F35799}" type="presParOf" srcId="{8058EAA6-50AB-4D03-A726-56CD7B3FF8B6}" destId="{FD1DD917-B38E-45E3-8D65-AC446E0114F0}" srcOrd="4" destOrd="0" presId="urn:microsoft.com/office/officeart/2005/8/layout/process4"/>
    <dgm:cxn modelId="{10B08193-0DA3-4DE7-AC19-EF932A953797}" type="presParOf" srcId="{FD1DD917-B38E-45E3-8D65-AC446E0114F0}" destId="{F32F4C41-C937-4EA2-8478-2399AA32FB5A}" srcOrd="0" destOrd="0" presId="urn:microsoft.com/office/officeart/2005/8/layout/process4"/>
    <dgm:cxn modelId="{10179568-128B-4ACE-9201-6C27432247C1}" type="presParOf" srcId="{8058EAA6-50AB-4D03-A726-56CD7B3FF8B6}" destId="{2F2C9FA8-41E6-4073-888A-066D5A9D5441}" srcOrd="5" destOrd="0" presId="urn:microsoft.com/office/officeart/2005/8/layout/process4"/>
    <dgm:cxn modelId="{F7D83186-E601-4077-8979-0C743FC403E4}" type="presParOf" srcId="{8058EAA6-50AB-4D03-A726-56CD7B3FF8B6}" destId="{B285D08D-F08F-48CE-96BF-8C56CE4B3309}" srcOrd="6" destOrd="0" presId="urn:microsoft.com/office/officeart/2005/8/layout/process4"/>
    <dgm:cxn modelId="{73F53D54-75D1-4172-9E0D-F8B22A7DA6D0}" type="presParOf" srcId="{B285D08D-F08F-48CE-96BF-8C56CE4B3309}" destId="{88DF27BD-A4CA-43DA-9698-FE122B61EA5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2FEB9-FDFA-43C8-8EF7-E472FB9C1F8F}" type="doc">
      <dgm:prSet loTypeId="urn:microsoft.com/office/officeart/2005/8/layout/radial4" loCatId="relationship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pl-PL"/>
        </a:p>
      </dgm:t>
    </dgm:pt>
    <dgm:pt modelId="{0E346872-905E-4D32-80BB-FBDA95CC00D4}">
      <dgm:prSet phldrT="[Tekst]" phldr="0"/>
      <dgm:spPr/>
      <dgm:t>
        <a:bodyPr/>
        <a:lstStyle/>
        <a:p>
          <a:r>
            <a:rPr lang="pl-PL" dirty="0"/>
            <a:t>ICP</a:t>
          </a:r>
        </a:p>
      </dgm:t>
    </dgm:pt>
    <dgm:pt modelId="{310D0471-2190-4531-AD84-DE14BB25C7EB}" type="parTrans" cxnId="{20620064-E0C6-460F-8688-A27E652615B5}">
      <dgm:prSet/>
      <dgm:spPr/>
      <dgm:t>
        <a:bodyPr/>
        <a:lstStyle/>
        <a:p>
          <a:endParaRPr lang="pl-PL"/>
        </a:p>
      </dgm:t>
    </dgm:pt>
    <dgm:pt modelId="{05917709-B0B4-4D46-98B2-E1582DF35A96}" type="sibTrans" cxnId="{20620064-E0C6-460F-8688-A27E652615B5}">
      <dgm:prSet/>
      <dgm:spPr/>
      <dgm:t>
        <a:bodyPr/>
        <a:lstStyle/>
        <a:p>
          <a:endParaRPr lang="pl-PL"/>
        </a:p>
      </dgm:t>
    </dgm:pt>
    <dgm:pt modelId="{C8F99143-B69F-4556-9197-B0E511425D3A}">
      <dgm:prSet phldrT="[Tekst]" phldr="0"/>
      <dgm:spPr/>
      <dgm:t>
        <a:bodyPr/>
        <a:lstStyle/>
        <a:p>
          <a:r>
            <a:rPr lang="pl-PL" dirty="0"/>
            <a:t>fale wolne </a:t>
          </a:r>
          <a:br>
            <a:rPr lang="pl-PL" dirty="0"/>
          </a:br>
          <a:r>
            <a:rPr lang="pl-PL" dirty="0"/>
            <a:t>(b)</a:t>
          </a:r>
        </a:p>
      </dgm:t>
    </dgm:pt>
    <dgm:pt modelId="{AF9FD5DF-FD28-4F40-B1AB-482DF8C0201C}" type="parTrans" cxnId="{B76BA649-E891-456B-890C-BDA5E7E4E580}">
      <dgm:prSet/>
      <dgm:spPr/>
      <dgm:t>
        <a:bodyPr/>
        <a:lstStyle/>
        <a:p>
          <a:endParaRPr lang="pl-PL"/>
        </a:p>
      </dgm:t>
    </dgm:pt>
    <dgm:pt modelId="{A83C5541-356F-41C5-ADB5-58A3DF9965D1}" type="sibTrans" cxnId="{B76BA649-E891-456B-890C-BDA5E7E4E580}">
      <dgm:prSet/>
      <dgm:spPr/>
      <dgm:t>
        <a:bodyPr/>
        <a:lstStyle/>
        <a:p>
          <a:endParaRPr lang="pl-PL"/>
        </a:p>
      </dgm:t>
    </dgm:pt>
    <dgm:pt modelId="{62C84544-BCCF-4B6F-8019-5E693C800044}">
      <dgm:prSet phldrT="[Tekst]" phldr="0"/>
      <dgm:spPr/>
      <dgm:t>
        <a:bodyPr/>
        <a:lstStyle/>
        <a:p>
          <a:r>
            <a:rPr lang="pl-PL" dirty="0"/>
            <a:t>fale oddechowe (c)</a:t>
          </a:r>
        </a:p>
      </dgm:t>
    </dgm:pt>
    <dgm:pt modelId="{46B65D5C-08A2-43BF-B69F-059BAB29C52A}" type="parTrans" cxnId="{06843C8A-CACD-4A22-9A65-AF9F0A2C7E9A}">
      <dgm:prSet/>
      <dgm:spPr/>
      <dgm:t>
        <a:bodyPr/>
        <a:lstStyle/>
        <a:p>
          <a:endParaRPr lang="pl-PL"/>
        </a:p>
      </dgm:t>
    </dgm:pt>
    <dgm:pt modelId="{30880476-70A5-4B5E-BC72-7F369328C2DD}" type="sibTrans" cxnId="{06843C8A-CACD-4A22-9A65-AF9F0A2C7E9A}">
      <dgm:prSet/>
      <dgm:spPr/>
      <dgm:t>
        <a:bodyPr/>
        <a:lstStyle/>
        <a:p>
          <a:endParaRPr lang="pl-PL"/>
        </a:p>
      </dgm:t>
    </dgm:pt>
    <dgm:pt modelId="{2E76A143-93E3-4092-9CBD-0C794317C246}">
      <dgm:prSet phldrT="[Tekst]" phldr="0"/>
      <dgm:spPr>
        <a:solidFill>
          <a:srgbClr val="5CA5E2"/>
        </a:solidFill>
      </dgm:spPr>
      <dgm:t>
        <a:bodyPr/>
        <a:lstStyle/>
        <a:p>
          <a:r>
            <a:rPr lang="pl-PL" dirty="0"/>
            <a:t>fale tętniczopochodne (d)</a:t>
          </a:r>
        </a:p>
      </dgm:t>
    </dgm:pt>
    <dgm:pt modelId="{2CB1B18D-1BCA-4B21-B93E-B50D35AE0EED}" type="parTrans" cxnId="{E3E36A18-121E-452E-BB3B-794A933E649A}">
      <dgm:prSet/>
      <dgm:spPr/>
      <dgm:t>
        <a:bodyPr/>
        <a:lstStyle/>
        <a:p>
          <a:endParaRPr lang="pl-PL"/>
        </a:p>
      </dgm:t>
    </dgm:pt>
    <dgm:pt modelId="{C42C8CC2-6C7E-428F-9BF9-C2390A83B1E3}" type="sibTrans" cxnId="{E3E36A18-121E-452E-BB3B-794A933E649A}">
      <dgm:prSet/>
      <dgm:spPr/>
      <dgm:t>
        <a:bodyPr/>
        <a:lstStyle/>
        <a:p>
          <a:endParaRPr lang="pl-PL"/>
        </a:p>
      </dgm:t>
    </dgm:pt>
    <dgm:pt modelId="{8B87E36E-7D2A-4BB7-834C-CEDD42FD9A9E}" type="pres">
      <dgm:prSet presAssocID="{B582FEB9-FDFA-43C8-8EF7-E472FB9C1F8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94D23C-1879-400D-9489-4948099F544D}" type="pres">
      <dgm:prSet presAssocID="{0E346872-905E-4D32-80BB-FBDA95CC00D4}" presName="centerShape" presStyleLbl="node0" presStyleIdx="0" presStyleCnt="1" custLinFactNeighborX="-921" custLinFactNeighborY="-42964"/>
      <dgm:spPr/>
    </dgm:pt>
    <dgm:pt modelId="{DE9DB6BE-4746-46D3-9766-386FCC7AF937}" type="pres">
      <dgm:prSet presAssocID="{AF9FD5DF-FD28-4F40-B1AB-482DF8C0201C}" presName="parTrans" presStyleLbl="bgSibTrans2D1" presStyleIdx="0" presStyleCnt="3"/>
      <dgm:spPr/>
    </dgm:pt>
    <dgm:pt modelId="{DCC982A2-CD1A-4E63-AED6-537E95FE24C1}" type="pres">
      <dgm:prSet presAssocID="{C8F99143-B69F-4556-9197-B0E511425D3A}" presName="node" presStyleLbl="node1" presStyleIdx="0" presStyleCnt="3" custScaleY="73082" custRadScaleRad="81414" custRadScaleInc="-45778">
        <dgm:presLayoutVars>
          <dgm:bulletEnabled val="1"/>
        </dgm:presLayoutVars>
      </dgm:prSet>
      <dgm:spPr/>
    </dgm:pt>
    <dgm:pt modelId="{C5778FFF-955A-4759-9697-10683B9682A8}" type="pres">
      <dgm:prSet presAssocID="{46B65D5C-08A2-43BF-B69F-059BAB29C52A}" presName="parTrans" presStyleLbl="bgSibTrans2D1" presStyleIdx="1" presStyleCnt="3"/>
      <dgm:spPr/>
    </dgm:pt>
    <dgm:pt modelId="{75408719-4E25-457D-84DE-05048C4C63C8}" type="pres">
      <dgm:prSet presAssocID="{62C84544-BCCF-4B6F-8019-5E693C800044}" presName="node" presStyleLbl="node1" presStyleIdx="1" presStyleCnt="3" custScaleY="57410" custRadScaleRad="32521" custRadScaleInc="-294411">
        <dgm:presLayoutVars>
          <dgm:bulletEnabled val="1"/>
        </dgm:presLayoutVars>
      </dgm:prSet>
      <dgm:spPr/>
    </dgm:pt>
    <dgm:pt modelId="{F0633A79-3651-456B-9446-BCEBD7467CAB}" type="pres">
      <dgm:prSet presAssocID="{2CB1B18D-1BCA-4B21-B93E-B50D35AE0EED}" presName="parTrans" presStyleLbl="bgSibTrans2D1" presStyleIdx="2" presStyleCnt="3"/>
      <dgm:spPr/>
    </dgm:pt>
    <dgm:pt modelId="{75287467-A922-464A-B299-551F0B29E154}" type="pres">
      <dgm:prSet presAssocID="{2E76A143-93E3-4092-9CBD-0C794317C246}" presName="node" presStyleLbl="node1" presStyleIdx="2" presStyleCnt="3" custScaleY="68077" custRadScaleRad="83336" custRadScaleInc="41683">
        <dgm:presLayoutVars>
          <dgm:bulletEnabled val="1"/>
        </dgm:presLayoutVars>
      </dgm:prSet>
      <dgm:spPr/>
    </dgm:pt>
  </dgm:ptLst>
  <dgm:cxnLst>
    <dgm:cxn modelId="{E3E36A18-121E-452E-BB3B-794A933E649A}" srcId="{0E346872-905E-4D32-80BB-FBDA95CC00D4}" destId="{2E76A143-93E3-4092-9CBD-0C794317C246}" srcOrd="2" destOrd="0" parTransId="{2CB1B18D-1BCA-4B21-B93E-B50D35AE0EED}" sibTransId="{C42C8CC2-6C7E-428F-9BF9-C2390A83B1E3}"/>
    <dgm:cxn modelId="{A2439B33-F758-4FF7-97F3-E655E77B4033}" type="presOf" srcId="{62C84544-BCCF-4B6F-8019-5E693C800044}" destId="{75408719-4E25-457D-84DE-05048C4C63C8}" srcOrd="0" destOrd="0" presId="urn:microsoft.com/office/officeart/2005/8/layout/radial4"/>
    <dgm:cxn modelId="{3E08CF3F-EF0C-4217-8CBD-12E6913D1751}" type="presOf" srcId="{B582FEB9-FDFA-43C8-8EF7-E472FB9C1F8F}" destId="{8B87E36E-7D2A-4BB7-834C-CEDD42FD9A9E}" srcOrd="0" destOrd="0" presId="urn:microsoft.com/office/officeart/2005/8/layout/radial4"/>
    <dgm:cxn modelId="{20620064-E0C6-460F-8688-A27E652615B5}" srcId="{B582FEB9-FDFA-43C8-8EF7-E472FB9C1F8F}" destId="{0E346872-905E-4D32-80BB-FBDA95CC00D4}" srcOrd="0" destOrd="0" parTransId="{310D0471-2190-4531-AD84-DE14BB25C7EB}" sibTransId="{05917709-B0B4-4D46-98B2-E1582DF35A96}"/>
    <dgm:cxn modelId="{B76BA649-E891-456B-890C-BDA5E7E4E580}" srcId="{0E346872-905E-4D32-80BB-FBDA95CC00D4}" destId="{C8F99143-B69F-4556-9197-B0E511425D3A}" srcOrd="0" destOrd="0" parTransId="{AF9FD5DF-FD28-4F40-B1AB-482DF8C0201C}" sibTransId="{A83C5541-356F-41C5-ADB5-58A3DF9965D1}"/>
    <dgm:cxn modelId="{9E08BC56-5675-4D0D-AC19-62744DBA5A4D}" type="presOf" srcId="{AF9FD5DF-FD28-4F40-B1AB-482DF8C0201C}" destId="{DE9DB6BE-4746-46D3-9766-386FCC7AF937}" srcOrd="0" destOrd="0" presId="urn:microsoft.com/office/officeart/2005/8/layout/radial4"/>
    <dgm:cxn modelId="{06843C8A-CACD-4A22-9A65-AF9F0A2C7E9A}" srcId="{0E346872-905E-4D32-80BB-FBDA95CC00D4}" destId="{62C84544-BCCF-4B6F-8019-5E693C800044}" srcOrd="1" destOrd="0" parTransId="{46B65D5C-08A2-43BF-B69F-059BAB29C52A}" sibTransId="{30880476-70A5-4B5E-BC72-7F369328C2DD}"/>
    <dgm:cxn modelId="{8084C698-AC0C-4DAD-BE42-F74062A65D43}" type="presOf" srcId="{46B65D5C-08A2-43BF-B69F-059BAB29C52A}" destId="{C5778FFF-955A-4759-9697-10683B9682A8}" srcOrd="0" destOrd="0" presId="urn:microsoft.com/office/officeart/2005/8/layout/radial4"/>
    <dgm:cxn modelId="{33706DB1-A1CA-4FC2-8476-D0A6FFC28989}" type="presOf" srcId="{0E346872-905E-4D32-80BB-FBDA95CC00D4}" destId="{BC94D23C-1879-400D-9489-4948099F544D}" srcOrd="0" destOrd="0" presId="urn:microsoft.com/office/officeart/2005/8/layout/radial4"/>
    <dgm:cxn modelId="{6211FFD3-EF92-4A15-99DA-2002A77F54CB}" type="presOf" srcId="{2CB1B18D-1BCA-4B21-B93E-B50D35AE0EED}" destId="{F0633A79-3651-456B-9446-BCEBD7467CAB}" srcOrd="0" destOrd="0" presId="urn:microsoft.com/office/officeart/2005/8/layout/radial4"/>
    <dgm:cxn modelId="{FD9B09ED-8CE9-42D0-85FC-1FAC87B51EFC}" type="presOf" srcId="{C8F99143-B69F-4556-9197-B0E511425D3A}" destId="{DCC982A2-CD1A-4E63-AED6-537E95FE24C1}" srcOrd="0" destOrd="0" presId="urn:microsoft.com/office/officeart/2005/8/layout/radial4"/>
    <dgm:cxn modelId="{DF0DC2EE-A3BD-4FC1-9F32-0B071CFB5140}" type="presOf" srcId="{2E76A143-93E3-4092-9CBD-0C794317C246}" destId="{75287467-A922-464A-B299-551F0B29E154}" srcOrd="0" destOrd="0" presId="urn:microsoft.com/office/officeart/2005/8/layout/radial4"/>
    <dgm:cxn modelId="{4B699D6A-3C4D-4074-AF0B-2215C245CD6B}" type="presParOf" srcId="{8B87E36E-7D2A-4BB7-834C-CEDD42FD9A9E}" destId="{BC94D23C-1879-400D-9489-4948099F544D}" srcOrd="0" destOrd="0" presId="urn:microsoft.com/office/officeart/2005/8/layout/radial4"/>
    <dgm:cxn modelId="{93E94C2F-356B-4814-8596-B9C244A9F523}" type="presParOf" srcId="{8B87E36E-7D2A-4BB7-834C-CEDD42FD9A9E}" destId="{DE9DB6BE-4746-46D3-9766-386FCC7AF937}" srcOrd="1" destOrd="0" presId="urn:microsoft.com/office/officeart/2005/8/layout/radial4"/>
    <dgm:cxn modelId="{2CA979C0-5626-4454-9DBA-666768BAFBA4}" type="presParOf" srcId="{8B87E36E-7D2A-4BB7-834C-CEDD42FD9A9E}" destId="{DCC982A2-CD1A-4E63-AED6-537E95FE24C1}" srcOrd="2" destOrd="0" presId="urn:microsoft.com/office/officeart/2005/8/layout/radial4"/>
    <dgm:cxn modelId="{46B752EE-6E8E-43E6-95B1-45C7C3E5A567}" type="presParOf" srcId="{8B87E36E-7D2A-4BB7-834C-CEDD42FD9A9E}" destId="{C5778FFF-955A-4759-9697-10683B9682A8}" srcOrd="3" destOrd="0" presId="urn:microsoft.com/office/officeart/2005/8/layout/radial4"/>
    <dgm:cxn modelId="{56FE2883-45DC-448D-8B16-3F7C937EB3D5}" type="presParOf" srcId="{8B87E36E-7D2A-4BB7-834C-CEDD42FD9A9E}" destId="{75408719-4E25-457D-84DE-05048C4C63C8}" srcOrd="4" destOrd="0" presId="urn:microsoft.com/office/officeart/2005/8/layout/radial4"/>
    <dgm:cxn modelId="{31C9C91E-2E3B-4EF9-842D-A0828029AF8E}" type="presParOf" srcId="{8B87E36E-7D2A-4BB7-834C-CEDD42FD9A9E}" destId="{F0633A79-3651-456B-9446-BCEBD7467CAB}" srcOrd="5" destOrd="0" presId="urn:microsoft.com/office/officeart/2005/8/layout/radial4"/>
    <dgm:cxn modelId="{926EA839-D570-4D06-894B-B2F8D4D256F6}" type="presParOf" srcId="{8B87E36E-7D2A-4BB7-834C-CEDD42FD9A9E}" destId="{75287467-A922-464A-B299-551F0B29E154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9B9EE-6886-4E68-9344-3F6CC0F40840}">
      <dsp:nvSpPr>
        <dsp:cNvPr id="0" name=""/>
        <dsp:cNvSpPr/>
      </dsp:nvSpPr>
      <dsp:spPr>
        <a:xfrm>
          <a:off x="0" y="3702533"/>
          <a:ext cx="3788934" cy="8100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wzrost ciśnienia</a:t>
          </a:r>
          <a:endParaRPr lang="pl-PL" sz="1700" kern="1200" dirty="0"/>
        </a:p>
      </dsp:txBody>
      <dsp:txXfrm>
        <a:off x="0" y="3702533"/>
        <a:ext cx="3788934" cy="810023"/>
      </dsp:txXfrm>
    </dsp:sp>
    <dsp:sp modelId="{DEDFFCAF-77E2-44F8-92C2-33122216DBCB}">
      <dsp:nvSpPr>
        <dsp:cNvPr id="0" name=""/>
        <dsp:cNvSpPr/>
      </dsp:nvSpPr>
      <dsp:spPr>
        <a:xfrm rot="10800000">
          <a:off x="0" y="2468867"/>
          <a:ext cx="3788934" cy="124581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spadek podatności</a:t>
          </a:r>
        </a:p>
      </dsp:txBody>
      <dsp:txXfrm rot="10800000">
        <a:off x="0" y="2468867"/>
        <a:ext cx="3788934" cy="809494"/>
      </dsp:txXfrm>
    </dsp:sp>
    <dsp:sp modelId="{F32F4C41-C937-4EA2-8478-2399AA32FB5A}">
      <dsp:nvSpPr>
        <dsp:cNvPr id="0" name=""/>
        <dsp:cNvSpPr/>
      </dsp:nvSpPr>
      <dsp:spPr>
        <a:xfrm rot="10800000">
          <a:off x="0" y="1235200"/>
          <a:ext cx="3788934" cy="124581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znaczny wzrost objętości </a:t>
          </a:r>
        </a:p>
      </dsp:txBody>
      <dsp:txXfrm rot="10800000">
        <a:off x="0" y="1235200"/>
        <a:ext cx="3788934" cy="809494"/>
      </dsp:txXfrm>
    </dsp:sp>
    <dsp:sp modelId="{88DF27BD-A4CA-43DA-9698-FE122B61EA52}">
      <dsp:nvSpPr>
        <dsp:cNvPr id="0" name=""/>
        <dsp:cNvSpPr/>
      </dsp:nvSpPr>
      <dsp:spPr>
        <a:xfrm rot="10800000">
          <a:off x="0" y="1534"/>
          <a:ext cx="3788934" cy="124581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 dirty="0"/>
            <a:t>pojawienie się patologii w obrębie przestrzeni wewnątrzczaszkowej </a:t>
          </a:r>
        </a:p>
      </dsp:txBody>
      <dsp:txXfrm rot="10800000">
        <a:off x="0" y="1534"/>
        <a:ext cx="3788934" cy="809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4D23C-1879-400D-9489-4948099F544D}">
      <dsp:nvSpPr>
        <dsp:cNvPr id="0" name=""/>
        <dsp:cNvSpPr/>
      </dsp:nvSpPr>
      <dsp:spPr>
        <a:xfrm>
          <a:off x="2037151" y="461710"/>
          <a:ext cx="1923175" cy="19231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6500" kern="1200" dirty="0"/>
            <a:t>ICP</a:t>
          </a:r>
        </a:p>
      </dsp:txBody>
      <dsp:txXfrm>
        <a:off x="2318793" y="743352"/>
        <a:ext cx="1359891" cy="1359891"/>
      </dsp:txXfrm>
    </dsp:sp>
    <dsp:sp modelId="{DE9DB6BE-4746-46D3-9766-386FCC7AF937}">
      <dsp:nvSpPr>
        <dsp:cNvPr id="0" name=""/>
        <dsp:cNvSpPr/>
      </dsp:nvSpPr>
      <dsp:spPr>
        <a:xfrm rot="8180613">
          <a:off x="704334" y="2494643"/>
          <a:ext cx="1768762" cy="548104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982A2-CD1A-4E63-AED6-537E95FE24C1}">
      <dsp:nvSpPr>
        <dsp:cNvPr id="0" name=""/>
        <dsp:cNvSpPr/>
      </dsp:nvSpPr>
      <dsp:spPr>
        <a:xfrm>
          <a:off x="35365" y="2845125"/>
          <a:ext cx="1827016" cy="106817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fale wolne </a:t>
          </a:r>
          <a:br>
            <a:rPr lang="pl-PL" sz="1600" kern="1200" dirty="0"/>
          </a:br>
          <a:r>
            <a:rPr lang="pl-PL" sz="1600" kern="1200" dirty="0"/>
            <a:t>(b)</a:t>
          </a:r>
        </a:p>
      </dsp:txBody>
      <dsp:txXfrm>
        <a:off x="66651" y="2876411"/>
        <a:ext cx="1764444" cy="1005604"/>
      </dsp:txXfrm>
    </dsp:sp>
    <dsp:sp modelId="{C5778FFF-955A-4759-9697-10683B9682A8}">
      <dsp:nvSpPr>
        <dsp:cNvPr id="0" name=""/>
        <dsp:cNvSpPr/>
      </dsp:nvSpPr>
      <dsp:spPr>
        <a:xfrm rot="5401751">
          <a:off x="1998091" y="3226776"/>
          <a:ext cx="1999179" cy="548104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08719-4E25-457D-84DE-05048C4C63C8}">
      <dsp:nvSpPr>
        <dsp:cNvPr id="0" name=""/>
        <dsp:cNvSpPr/>
      </dsp:nvSpPr>
      <dsp:spPr>
        <a:xfrm>
          <a:off x="2083663" y="4080862"/>
          <a:ext cx="1827016" cy="8391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fale oddechowe (c)</a:t>
          </a:r>
        </a:p>
      </dsp:txBody>
      <dsp:txXfrm>
        <a:off x="2108240" y="4105439"/>
        <a:ext cx="1777862" cy="789958"/>
      </dsp:txXfrm>
    </dsp:sp>
    <dsp:sp modelId="{F0633A79-3651-456B-9446-BCEBD7467CAB}">
      <dsp:nvSpPr>
        <dsp:cNvPr id="0" name=""/>
        <dsp:cNvSpPr/>
      </dsp:nvSpPr>
      <dsp:spPr>
        <a:xfrm rot="2425294">
          <a:off x="3595817" y="2423720"/>
          <a:ext cx="1798566" cy="548104"/>
        </a:xfrm>
        <a:prstGeom prst="lef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87467-A922-464A-B299-551F0B29E154}">
      <dsp:nvSpPr>
        <dsp:cNvPr id="0" name=""/>
        <dsp:cNvSpPr/>
      </dsp:nvSpPr>
      <dsp:spPr>
        <a:xfrm>
          <a:off x="4266211" y="2783362"/>
          <a:ext cx="1827016" cy="995022"/>
        </a:xfrm>
        <a:prstGeom prst="roundRect">
          <a:avLst>
            <a:gd name="adj" fmla="val 10000"/>
          </a:avLst>
        </a:prstGeom>
        <a:solidFill>
          <a:srgbClr val="5CA5E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fale tętniczopochodne (d)</a:t>
          </a:r>
        </a:p>
      </dsp:txBody>
      <dsp:txXfrm>
        <a:off x="4295354" y="2812505"/>
        <a:ext cx="1768730" cy="936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410370A-4EA9-4720-9F5E-1510D96B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30C2684-42A7-4DF6-9FE1-7001D18670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4014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8051A36-CCDA-46D6-8751-4C8D74526861}" type="datetimeFigureOut">
              <a:rPr lang="pl-PL"/>
              <a:pPr>
                <a:defRPr/>
              </a:pPr>
              <a:t>16.10.2025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CFDFD6-3813-49B7-BB0F-191E9B212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456324"/>
            <a:ext cx="4300307" cy="340264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82F540B-711C-459B-8E06-9C4104A3CF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4014" y="6456324"/>
            <a:ext cx="4300307" cy="340264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8F4FCD9-BA7F-48A7-B3B3-82ADBA7B3B21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D818A71B-DC1F-408C-B3D1-E849FB7B4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C2135F-0056-4A00-9936-7DC2A5ED36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624014" y="0"/>
            <a:ext cx="4300307" cy="340265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958589B-E6FC-4863-935D-DE3851DA945C}" type="datetimeFigureOut">
              <a:rPr lang="pl-PL"/>
              <a:pPr>
                <a:defRPr/>
              </a:pPr>
              <a:t>16.10.2025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2A0AA2D0-0220-4B41-946E-A13520E0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29138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ED235504-81E4-44E6-8904-ECD328F55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D310A0-03E4-4B1C-8E07-370908C2D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6456324"/>
            <a:ext cx="4300307" cy="340264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4850364-4A0B-4F60-93B9-58F4EA96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24014" y="6456324"/>
            <a:ext cx="4300307" cy="340264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580E2B2-3987-459E-9E73-FCE4CF2EC872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W warunkach klinicznych pomiar ICP prowadzony jest w sposób ciągły i długotrwały, zazwyczaj przez kilka godzin lub nawet dni.</a:t>
            </a:r>
          </a:p>
          <a:p>
            <a:pPr marL="0" indent="0">
              <a:buNone/>
            </a:pPr>
            <a:r>
              <a:rPr lang="pl-PL" dirty="0"/>
              <a:t>Zazwyczaj do celów diagnostycznych wykorzystywana jest średnia wartość ICP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6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406527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38B1951-AD23-4425-9B6F-B6FE41B8412E}"/>
              </a:ext>
            </a:extLst>
          </p:cNvPr>
          <p:cNvSpPr txBox="1">
            <a:spLocks/>
          </p:cNvSpPr>
          <p:nvPr/>
        </p:nvSpPr>
        <p:spPr bwMode="auto">
          <a:xfrm>
            <a:off x="387351" y="2420939"/>
            <a:ext cx="11521016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sz="4000" kern="0" dirty="0">
              <a:latin typeface="Calibri" panose="020F050202020403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8D5811-6A0A-468C-90DC-4B945CF4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988840"/>
            <a:ext cx="10152536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F1A1287-80D1-49F2-BADB-63A496BF1E38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2C47AA24-DEFC-42F7-9344-2792C6EB5D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19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699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554F3A11-EEA8-42B0-904A-8D56848B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6272226" y="2492896"/>
            <a:ext cx="575184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16632"/>
            <a:ext cx="4224469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6272226" y="116632"/>
            <a:ext cx="575184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6272225" y="3861048"/>
            <a:ext cx="5751843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44D2146-237E-446E-96A3-073E895DF9EF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AE9F8729-CB38-4705-BC57-D32B8B1B9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136681"/>
            <a:ext cx="1232561" cy="2127893"/>
          </a:xfrm>
          <a:prstGeom prst="rect">
            <a:avLst/>
          </a:prstGeom>
        </p:spPr>
      </p:pic>
      <p:sp>
        <p:nvSpPr>
          <p:cNvPr id="23" name="Prostokąt 22">
            <a:extLst>
              <a:ext uri="{FF2B5EF4-FFF2-40B4-BE49-F238E27FC236}">
                <a16:creationId xmlns:a16="http://schemas.microsoft.com/office/drawing/2014/main" id="{233517F7-AC92-4711-A134-3525EF63D49D}"/>
              </a:ext>
            </a:extLst>
          </p:cNvPr>
          <p:cNvSpPr/>
          <p:nvPr userDrawn="1"/>
        </p:nvSpPr>
        <p:spPr>
          <a:xfrm>
            <a:off x="288388" y="5013176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24" name="Symbol zastępczy obrazu 4">
            <a:extLst>
              <a:ext uri="{FF2B5EF4-FFF2-40B4-BE49-F238E27FC236}">
                <a16:creationId xmlns:a16="http://schemas.microsoft.com/office/drawing/2014/main" id="{4978960D-5E62-47B8-B987-8B51D5F41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61191" y="5734137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5A4122E7-9E6B-43B2-84C0-537E3099DD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32" y="5162692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04369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4">
            <a:extLst>
              <a:ext uri="{FF2B5EF4-FFF2-40B4-BE49-F238E27FC236}">
                <a16:creationId xmlns:a16="http://schemas.microsoft.com/office/drawing/2014/main" id="{C86E8BA2-DF0C-4553-ABEE-2AA703CA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7CBBD8-F20F-4CFA-A1C0-A2BD928C98EE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92C32551-02FA-4391-BD24-420530585A4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C303F6B8-DC1A-451A-B7C8-76DEF78CD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1775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ostokąt 11">
            <a:extLst>
              <a:ext uri="{FF2B5EF4-FFF2-40B4-BE49-F238E27FC236}">
                <a16:creationId xmlns:a16="http://schemas.microsoft.com/office/drawing/2014/main" id="{F446A836-1F6A-44FD-A507-72760F9AD1E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8C20DE13-7457-4626-BE75-0D6CC48F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E4C6FF5-B562-440C-B37F-2991087E69D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4" y="1844824"/>
            <a:ext cx="4896545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6095238" y="1844824"/>
            <a:ext cx="5953423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3" y="1120626"/>
            <a:ext cx="11041227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EAFB6B00-2019-4AD7-82E4-7DCE973AB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53814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>
            <a:extLst>
              <a:ext uri="{FF2B5EF4-FFF2-40B4-BE49-F238E27FC236}">
                <a16:creationId xmlns:a16="http://schemas.microsoft.com/office/drawing/2014/main" id="{85B50D36-29A4-4384-AB09-BBD226989967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4">
            <a:extLst>
              <a:ext uri="{FF2B5EF4-FFF2-40B4-BE49-F238E27FC236}">
                <a16:creationId xmlns:a16="http://schemas.microsoft.com/office/drawing/2014/main" id="{3ECACFEE-8855-436E-B24A-E1DC4A4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F1D416BD-FDA9-41E2-9ABB-44EC43B1E1FC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4" y="1628801"/>
            <a:ext cx="537659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576054" y="1628801"/>
            <a:ext cx="547767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44624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3" y="548680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3824B075-17CA-4CAF-B059-6272213C2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5439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rostokąt 12">
            <a:extLst>
              <a:ext uri="{FF2B5EF4-FFF2-40B4-BE49-F238E27FC236}">
                <a16:creationId xmlns:a16="http://schemas.microsoft.com/office/drawing/2014/main" id="{C6E2C7D1-3BD9-4A24-B4CF-104AFC655614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4">
            <a:extLst>
              <a:ext uri="{FF2B5EF4-FFF2-40B4-BE49-F238E27FC236}">
                <a16:creationId xmlns:a16="http://schemas.microsoft.com/office/drawing/2014/main" id="{719BE861-94A7-4968-91BA-65140916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B2396A7-488D-4B29-B27E-B1F82536D5B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A62151E8-16EA-4C9B-BE36-3955B91A3E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39376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A3CF7106-AAC5-4336-AEA0-B600B7DBB6D0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CB9EE27C-4280-4699-B0FB-00C29EC0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0900F33-D32C-4F5F-BC7D-BCD466A03069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1424" y="116632"/>
            <a:ext cx="4416491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9936" y="116632"/>
            <a:ext cx="6528725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1424" y="1435100"/>
            <a:ext cx="4416491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9125962-42A1-4453-833C-33FF69F7EE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315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>
            <a:extLst>
              <a:ext uri="{FF2B5EF4-FFF2-40B4-BE49-F238E27FC236}">
                <a16:creationId xmlns:a16="http://schemas.microsoft.com/office/drawing/2014/main" id="{FAC1082C-5AA9-4C8A-9F4F-BC1FBB2899FF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4">
            <a:extLst>
              <a:ext uri="{FF2B5EF4-FFF2-40B4-BE49-F238E27FC236}">
                <a16:creationId xmlns:a16="http://schemas.microsoft.com/office/drawing/2014/main" id="{38114D0A-9A9F-4AC0-AB2B-9D7ECEC1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70C72BC-1685-4E5C-9AB7-8C22C053D08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526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5" y="283"/>
            <a:ext cx="11184061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00526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BF0F1EC3-0F5E-4C45-8FAD-72B567C418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31103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3BFB7953-19B6-41F5-AAD5-D23DCF4695E6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76E1DE-8E59-4FAF-828C-A1E3A9F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2378A4F9-4C6D-448A-9C2B-718DC76E7A0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07435" y="116632"/>
            <a:ext cx="11041227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772817"/>
            <a:ext cx="11041227" cy="496855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438BA98-E092-4BD0-BCD1-4BCE3BDD4F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4643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B33CD6CA-CE75-4C42-A1BA-022400A1DA83}"/>
              </a:ext>
            </a:extLst>
          </p:cNvPr>
          <p:cNvSpPr/>
          <p:nvPr userDrawn="1"/>
        </p:nvSpPr>
        <p:spPr>
          <a:xfrm>
            <a:off x="0" y="0"/>
            <a:ext cx="839501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D3AAED1-1E56-4E0F-BA47-B297E2E3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EFA466E-1A63-45EC-9BBE-3350A790265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116632"/>
            <a:ext cx="3209461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16632"/>
            <a:ext cx="7628565" cy="66967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54CC311B-E0AF-4A4C-8EF3-A10DB162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02" y="136681"/>
            <a:ext cx="537031" cy="92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3645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A9D2542B-478A-4E26-A12F-4232999A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4" y="115888"/>
            <a:ext cx="11040533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201AC01-9E6A-4CE5-A822-FEB3753C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773239"/>
            <a:ext cx="1104053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D082F18C-2043-4D64-8064-A75306075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279532" y="3789041"/>
            <a:ext cx="9504464" cy="1152128"/>
          </a:xfrm>
        </p:spPr>
        <p:txBody>
          <a:bodyPr/>
          <a:lstStyle/>
          <a:p>
            <a:pPr algn="ctr"/>
            <a:r>
              <a:rPr lang="en-US" dirty="0"/>
              <a:t>Implementation of an algorithm for morphological analysis of intracranial pressure pulse waveform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C8470A-D0D2-4ECC-A4D3-F4CC7849E82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847082" y="576347"/>
            <a:ext cx="10320469" cy="2996671"/>
          </a:xfrm>
        </p:spPr>
        <p:txBody>
          <a:bodyPr/>
          <a:lstStyle/>
          <a:p>
            <a:pPr algn="ctr"/>
            <a:r>
              <a:rPr lang="pl-PL" dirty="0"/>
              <a:t>Implementacja algorytmu do analizy morfologicznej fali tętniczopochodnej ciśnienia wewnątrzczaszkowego</a:t>
            </a:r>
          </a:p>
        </p:txBody>
      </p:sp>
      <p:sp>
        <p:nvSpPr>
          <p:cNvPr id="7" name="Symbol zastępczy tekstu 2">
            <a:extLst>
              <a:ext uri="{FF2B5EF4-FFF2-40B4-BE49-F238E27FC236}">
                <a16:creationId xmlns:a16="http://schemas.microsoft.com/office/drawing/2014/main" id="{AF48B49A-01F5-4B02-CAC1-967F206AE830}"/>
              </a:ext>
            </a:extLst>
          </p:cNvPr>
          <p:cNvSpPr txBox="1">
            <a:spLocks/>
          </p:cNvSpPr>
          <p:nvPr/>
        </p:nvSpPr>
        <p:spPr bwMode="auto">
          <a:xfrm>
            <a:off x="2039505" y="5157192"/>
            <a:ext cx="9984518" cy="1184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sz="3200" kern="0" dirty="0"/>
              <a:t>autor: Hanna Jaworska</a:t>
            </a:r>
          </a:p>
          <a:p>
            <a:pPr algn="ctr"/>
            <a:r>
              <a:rPr lang="pl-PL" sz="3200" kern="0" dirty="0"/>
              <a:t>opiekun: dr inż. Agnieszka Kazimierska</a:t>
            </a:r>
          </a:p>
        </p:txBody>
      </p:sp>
    </p:spTree>
    <p:extLst>
      <p:ext uri="{BB962C8B-B14F-4D97-AF65-F5344CB8AC3E}">
        <p14:creationId xmlns:p14="http://schemas.microsoft.com/office/powerpoint/2010/main" val="2619901615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9634F34-511D-8D9D-6E94-312BC9F1A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7433" y="1268761"/>
            <a:ext cx="11046299" cy="3111364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Opracowanie i implementacja algorytmu umożliwiającego automatyczne wykrywanie punktów charakterystycznych (maksimów lokalnych: P1, P2, P3) w przebiegu fali tętniczopochodnej sygnału ciśnienia śródczaszkowego oraz ocenę ich parametrów w kontekście zgodności mózgowej i rezerwy kompensacyjnej pacjentów z urazowym uszkodzeniem mózgu oraz wodogłowiem, w tym przeprowadzenie analizy statystycznej.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75EAF32-7527-7BD2-FFE6-286F0FB0BA0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77769" y="188640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Cel pracy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6CE7104-8B92-D797-5196-33684412731D}"/>
              </a:ext>
            </a:extLst>
          </p:cNvPr>
          <p:cNvSpPr txBox="1"/>
          <p:nvPr/>
        </p:nvSpPr>
        <p:spPr>
          <a:xfrm>
            <a:off x="2711624" y="4581128"/>
            <a:ext cx="82809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słowa kluczowe: ciśnienie wewnątrzczaszkowe, fala tętniczopochodna, podatność mózgowa, urazowe uszkodzenie mózgu, rezerwa kompensacyjna, analiza sygnału biomedycznego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keywords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intracranial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pressure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pulse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waveform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cerebrospinal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compliance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traumatic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brain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injury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compensatory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reserve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biomedical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signal</a:t>
            </a:r>
            <a:r>
              <a:rPr kumimoji="0" lang="pl-PL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pl-PL" sz="2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analysis</a:t>
            </a:r>
            <a:endParaRPr kumimoji="0" lang="pl-PL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443451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1B7C83A-D157-920F-CFF7-F00CA05359D0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88640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Przestrzeń wewnątrzczaszkowa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328EBE-AF6B-7A94-C82B-6C44D37AC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5400" y="852487"/>
            <a:ext cx="487680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trzałka: w prawo 8">
            <a:extLst>
              <a:ext uri="{FF2B5EF4-FFF2-40B4-BE49-F238E27FC236}">
                <a16:creationId xmlns:a16="http://schemas.microsoft.com/office/drawing/2014/main" id="{2C89869A-9500-5624-6ABD-A3B223A692D7}"/>
              </a:ext>
            </a:extLst>
          </p:cNvPr>
          <p:cNvSpPr/>
          <p:nvPr/>
        </p:nvSpPr>
        <p:spPr>
          <a:xfrm>
            <a:off x="4998917" y="3398555"/>
            <a:ext cx="1731721" cy="1080120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A0285B25-0CFE-C925-F23A-D8270F33F351}"/>
              </a:ext>
            </a:extLst>
          </p:cNvPr>
          <p:cNvSpPr/>
          <p:nvPr/>
        </p:nvSpPr>
        <p:spPr>
          <a:xfrm>
            <a:off x="7104112" y="1052736"/>
            <a:ext cx="4032448" cy="4195204"/>
          </a:xfrm>
          <a:prstGeom prst="rect">
            <a:avLst/>
          </a:prstGeom>
          <a:solidFill>
            <a:srgbClr val="F8D7C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mózgowie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C6414CAA-84BD-E23E-7A13-2C7772E40EE3}"/>
              </a:ext>
            </a:extLst>
          </p:cNvPr>
          <p:cNvSpPr/>
          <p:nvPr/>
        </p:nvSpPr>
        <p:spPr>
          <a:xfrm>
            <a:off x="7104112" y="5247940"/>
            <a:ext cx="4032448" cy="505048"/>
          </a:xfrm>
          <a:prstGeom prst="rect">
            <a:avLst/>
          </a:prstGeom>
          <a:solidFill>
            <a:srgbClr val="E8798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krew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B68231F4-A74F-9BDD-DEF5-0BB03109316A}"/>
              </a:ext>
            </a:extLst>
          </p:cNvPr>
          <p:cNvSpPr/>
          <p:nvPr/>
        </p:nvSpPr>
        <p:spPr>
          <a:xfrm>
            <a:off x="7104112" y="5752988"/>
            <a:ext cx="4032448" cy="505048"/>
          </a:xfrm>
          <a:prstGeom prst="rect">
            <a:avLst/>
          </a:prstGeom>
          <a:solidFill>
            <a:srgbClr val="AAD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płyn mózgowo rdzeniowy</a:t>
            </a:r>
          </a:p>
        </p:txBody>
      </p:sp>
    </p:spTree>
    <p:extLst>
      <p:ext uri="{BB962C8B-B14F-4D97-AF65-F5344CB8AC3E}">
        <p14:creationId xmlns:p14="http://schemas.microsoft.com/office/powerpoint/2010/main" val="3657279308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4CDA-C137-8DEB-2927-50B60212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37AD127F-D05F-485C-11FE-A07CD0582BC8}"/>
              </a:ext>
            </a:extLst>
          </p:cNvPr>
          <p:cNvSpPr/>
          <p:nvPr/>
        </p:nvSpPr>
        <p:spPr>
          <a:xfrm>
            <a:off x="1199456" y="5434213"/>
            <a:ext cx="4372744" cy="1235146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9534A87-A137-F5E9-0BD2-771C2559699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88640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Przestrzeń wewnątrzczaszkowa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3EAB6EE-7CD5-64B0-974D-9CCBB83B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5400" y="852487"/>
            <a:ext cx="487680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rostokąt 9">
            <a:extLst>
              <a:ext uri="{FF2B5EF4-FFF2-40B4-BE49-F238E27FC236}">
                <a16:creationId xmlns:a16="http://schemas.microsoft.com/office/drawing/2014/main" id="{6CF2134E-8BC6-6C7E-8388-BB8E50F48267}"/>
              </a:ext>
            </a:extLst>
          </p:cNvPr>
          <p:cNvSpPr/>
          <p:nvPr/>
        </p:nvSpPr>
        <p:spPr>
          <a:xfrm>
            <a:off x="7104112" y="1052736"/>
            <a:ext cx="4032448" cy="4611476"/>
          </a:xfrm>
          <a:prstGeom prst="rect">
            <a:avLst/>
          </a:prstGeom>
          <a:solidFill>
            <a:srgbClr val="F8D7CE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mózgowie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60037F68-3FFF-B988-A3E4-8CF691D60185}"/>
              </a:ext>
            </a:extLst>
          </p:cNvPr>
          <p:cNvSpPr/>
          <p:nvPr/>
        </p:nvSpPr>
        <p:spPr>
          <a:xfrm>
            <a:off x="7104112" y="5664212"/>
            <a:ext cx="4032448" cy="296912"/>
          </a:xfrm>
          <a:prstGeom prst="rect">
            <a:avLst/>
          </a:prstGeom>
          <a:solidFill>
            <a:srgbClr val="E87989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krew</a:t>
            </a: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17DB6BB8-04AE-8A48-3D10-E5432587667B}"/>
              </a:ext>
            </a:extLst>
          </p:cNvPr>
          <p:cNvSpPr/>
          <p:nvPr/>
        </p:nvSpPr>
        <p:spPr>
          <a:xfrm>
            <a:off x="7104112" y="5961124"/>
            <a:ext cx="4032448" cy="296912"/>
          </a:xfrm>
          <a:prstGeom prst="rect">
            <a:avLst/>
          </a:prstGeom>
          <a:solidFill>
            <a:srgbClr val="AAD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płyn mózgowo rdzeniowy</a:t>
            </a:r>
          </a:p>
        </p:txBody>
      </p:sp>
      <p:sp>
        <p:nvSpPr>
          <p:cNvPr id="5" name="Strzałka: w prawo 4">
            <a:extLst>
              <a:ext uri="{FF2B5EF4-FFF2-40B4-BE49-F238E27FC236}">
                <a16:creationId xmlns:a16="http://schemas.microsoft.com/office/drawing/2014/main" id="{DC518409-3DDA-ADE8-D2CC-47DAFE6E23E4}"/>
              </a:ext>
            </a:extLst>
          </p:cNvPr>
          <p:cNvSpPr/>
          <p:nvPr/>
        </p:nvSpPr>
        <p:spPr>
          <a:xfrm rot="16200000">
            <a:off x="8016364" y="3346798"/>
            <a:ext cx="526909" cy="164404"/>
          </a:xfrm>
          <a:prstGeom prst="rightArrow">
            <a:avLst>
              <a:gd name="adj1" fmla="val 29500"/>
              <a:gd name="adj2" fmla="val 6435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Strzałka: w prawo 5">
            <a:extLst>
              <a:ext uri="{FF2B5EF4-FFF2-40B4-BE49-F238E27FC236}">
                <a16:creationId xmlns:a16="http://schemas.microsoft.com/office/drawing/2014/main" id="{18E0605A-F73D-C168-6D29-085D81BFDB2F}"/>
              </a:ext>
            </a:extLst>
          </p:cNvPr>
          <p:cNvSpPr/>
          <p:nvPr/>
        </p:nvSpPr>
        <p:spPr>
          <a:xfrm rot="5400000">
            <a:off x="7139198" y="6024073"/>
            <a:ext cx="526909" cy="164403"/>
          </a:xfrm>
          <a:prstGeom prst="rightArrow">
            <a:avLst>
              <a:gd name="adj1" fmla="val 29500"/>
              <a:gd name="adj2" fmla="val 6435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Strzałka: w prawo 6">
            <a:extLst>
              <a:ext uri="{FF2B5EF4-FFF2-40B4-BE49-F238E27FC236}">
                <a16:creationId xmlns:a16="http://schemas.microsoft.com/office/drawing/2014/main" id="{B433153A-6794-51C0-E2A2-94D208A516C0}"/>
              </a:ext>
            </a:extLst>
          </p:cNvPr>
          <p:cNvSpPr/>
          <p:nvPr/>
        </p:nvSpPr>
        <p:spPr>
          <a:xfrm rot="5400000">
            <a:off x="8180766" y="5615467"/>
            <a:ext cx="526911" cy="164403"/>
          </a:xfrm>
          <a:prstGeom prst="rightArrow">
            <a:avLst>
              <a:gd name="adj1" fmla="val 29500"/>
              <a:gd name="adj2" fmla="val 64350"/>
            </a:avLst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6C9D1F47-21B3-734C-D337-5404A130FD76}"/>
              </a:ext>
            </a:extLst>
          </p:cNvPr>
          <p:cNvSpPr/>
          <p:nvPr/>
        </p:nvSpPr>
        <p:spPr>
          <a:xfrm>
            <a:off x="4998917" y="3398555"/>
            <a:ext cx="1731721" cy="1080120"/>
          </a:xfrm>
          <a:prstGeom prst="rightArrow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2F3F525-82B0-66AA-24E6-8EDEAE1A7E0D}"/>
              </a:ext>
            </a:extLst>
          </p:cNvPr>
          <p:cNvSpPr txBox="1"/>
          <p:nvPr/>
        </p:nvSpPr>
        <p:spPr>
          <a:xfrm>
            <a:off x="1436183" y="5652283"/>
            <a:ext cx="4032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Calibri" panose="020F0502020204030204" pitchFamily="34" charset="0"/>
                <a:cs typeface="Calibri" panose="020F0502020204030204" pitchFamily="34" charset="0"/>
              </a:rPr>
              <a:t>sumaryczna objętość jest wartością stałą</a:t>
            </a:r>
          </a:p>
        </p:txBody>
      </p:sp>
    </p:spTree>
    <p:extLst>
      <p:ext uri="{BB962C8B-B14F-4D97-AF65-F5344CB8AC3E}">
        <p14:creationId xmlns:p14="http://schemas.microsoft.com/office/powerpoint/2010/main" val="170221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D45919B-E374-3BD9-94A0-E20ACBF0BD8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284236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Podatność</a:t>
            </a:r>
          </a:p>
        </p:txBody>
      </p:sp>
      <p:pic>
        <p:nvPicPr>
          <p:cNvPr id="2050" name="Picture 2" descr="Intracranial Pressure-Volume curve. Note the small increase in... |  Download Scientific Diagram">
            <a:extLst>
              <a:ext uri="{FF2B5EF4-FFF2-40B4-BE49-F238E27FC236}">
                <a16:creationId xmlns:a16="http://schemas.microsoft.com/office/drawing/2014/main" id="{EEFB38AC-5766-7BB8-652E-3517E66FD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96" y="1556792"/>
            <a:ext cx="6562725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BDD45DA4-741A-B1DB-0A43-DE5DF9D541BC}"/>
              </a:ext>
            </a:extLst>
          </p:cNvPr>
          <p:cNvSpPr txBox="1"/>
          <p:nvPr/>
        </p:nvSpPr>
        <p:spPr>
          <a:xfrm>
            <a:off x="5958330" y="5766842"/>
            <a:ext cx="60932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https://www.researchgate.net/publication/311525405/figure/fig1/AS:752006645948417@1556303764554/ntracranial-Pressure-Volume-curve-Note-the-small-increase-in-intracranial-pressure-with.png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10CDAA-CC16-DD14-65ED-7510289B73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5097176"/>
              </p:ext>
            </p:extLst>
          </p:nvPr>
        </p:nvGraphicFramePr>
        <p:xfrm>
          <a:off x="1343472" y="1404771"/>
          <a:ext cx="3788934" cy="4514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27332D84-1A6B-8282-7AC2-AB689D0BB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15283237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D024-A790-0FBE-5980-9A5426AD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Symbol zastępczy zawartości 9">
            <a:extLst>
              <a:ext uri="{FF2B5EF4-FFF2-40B4-BE49-F238E27FC236}">
                <a16:creationId xmlns:a16="http://schemas.microsoft.com/office/drawing/2014/main" id="{15E99054-AD11-2061-0411-277D3B11DC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93545712"/>
              </p:ext>
            </p:extLst>
          </p:nvPr>
        </p:nvGraphicFramePr>
        <p:xfrm>
          <a:off x="1116884" y="800894"/>
          <a:ext cx="6093228" cy="5256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Figure 2. Refer to the following caption and surrounding text.">
            <a:extLst>
              <a:ext uri="{FF2B5EF4-FFF2-40B4-BE49-F238E27FC236}">
                <a16:creationId xmlns:a16="http://schemas.microsoft.com/office/drawing/2014/main" id="{ACA22248-D1B7-C89E-A196-0E9EDAB39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7388" y="1231940"/>
            <a:ext cx="3675298" cy="544274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ymbol zastępczy tekstu 3">
            <a:extLst>
              <a:ext uri="{FF2B5EF4-FFF2-40B4-BE49-F238E27FC236}">
                <a16:creationId xmlns:a16="http://schemas.microsoft.com/office/drawing/2014/main" id="{EDDDC6AA-33CE-A8FE-24AD-C3118389778B}"/>
              </a:ext>
            </a:extLst>
          </p:cNvPr>
          <p:cNvSpPr txBox="1">
            <a:spLocks/>
          </p:cNvSpPr>
          <p:nvPr/>
        </p:nvSpPr>
        <p:spPr bwMode="auto">
          <a:xfrm>
            <a:off x="1007433" y="284236"/>
            <a:ext cx="11046299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b="1" dirty="0"/>
              <a:t>Ciśnienie wewnątrzczaszkowe ICP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36E2BF2-4E77-969C-EF4B-99D600F76D81}"/>
              </a:ext>
            </a:extLst>
          </p:cNvPr>
          <p:cNvSpPr txBox="1"/>
          <p:nvPr/>
        </p:nvSpPr>
        <p:spPr>
          <a:xfrm>
            <a:off x="4206004" y="6075910"/>
            <a:ext cx="33169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https://content.cld.iop.org/journals/0967-3334/44/10/10TR01/revision2/pmeaad0020f2_lr.jpg</a:t>
            </a: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66BDC577-6C76-0F28-1037-60F0295C0511}"/>
              </a:ext>
            </a:extLst>
          </p:cNvPr>
          <p:cNvSpPr/>
          <p:nvPr/>
        </p:nvSpPr>
        <p:spPr>
          <a:xfrm>
            <a:off x="7631077" y="5240799"/>
            <a:ext cx="4392775" cy="1517493"/>
          </a:xfrm>
          <a:prstGeom prst="rect">
            <a:avLst/>
          </a:prstGeom>
          <a:noFill/>
          <a:ln w="38100">
            <a:solidFill>
              <a:srgbClr val="5CA5E2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7692990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3F197867-0DBF-6CF7-4748-0543610A3E89}"/>
              </a:ext>
            </a:extLst>
          </p:cNvPr>
          <p:cNvSpPr/>
          <p:nvPr/>
        </p:nvSpPr>
        <p:spPr>
          <a:xfrm>
            <a:off x="6240016" y="4365104"/>
            <a:ext cx="5520318" cy="194378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9E083B3-C010-A884-7ED0-0DFC502ADC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556792"/>
            <a:ext cx="4392488" cy="1872208"/>
          </a:xfrm>
        </p:spPr>
        <p:txBody>
          <a:bodyPr/>
          <a:lstStyle/>
          <a:p>
            <a:pPr marL="0" indent="0">
              <a:buNone/>
            </a:pPr>
            <a:r>
              <a:rPr lang="pl-PL" sz="2400" dirty="0"/>
              <a:t>A – wysoka podatność, duży zapas rezerwy kompensacyjnej</a:t>
            </a:r>
          </a:p>
          <a:p>
            <a:pPr marL="0" indent="0">
              <a:buNone/>
            </a:pPr>
            <a:r>
              <a:rPr lang="pl-PL" sz="2400" dirty="0"/>
              <a:t>D – niska podatność, wyczerpana rezerwa kompensacyjna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8309BE9-02A2-10C4-7B72-5AD0748E7B9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188640"/>
            <a:ext cx="11046299" cy="864096"/>
          </a:xfrm>
        </p:spPr>
        <p:txBody>
          <a:bodyPr/>
          <a:lstStyle/>
          <a:p>
            <a:pPr algn="ctr"/>
            <a:r>
              <a:rPr lang="pl-PL" b="1" dirty="0"/>
              <a:t>Fala tętniczopochodna</a:t>
            </a:r>
          </a:p>
        </p:txBody>
      </p:sp>
      <p:pic>
        <p:nvPicPr>
          <p:cNvPr id="2050" name="Picture 2" descr="Pulse waveform analysis of ICP. Type A indicates normal ICP; there is a...  | Download Scientific Diagram">
            <a:extLst>
              <a:ext uri="{FF2B5EF4-FFF2-40B4-BE49-F238E27FC236}">
                <a16:creationId xmlns:a16="http://schemas.microsoft.com/office/drawing/2014/main" id="{2979A60E-433B-EF00-626D-63D34A57FD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8" r="19065"/>
          <a:stretch>
            <a:fillRect/>
          </a:stretch>
        </p:blipFill>
        <p:spPr bwMode="auto">
          <a:xfrm>
            <a:off x="986014" y="1527911"/>
            <a:ext cx="504056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3F7167FE-36B7-4589-740C-F6CD6B1BA987}"/>
              </a:ext>
            </a:extLst>
          </p:cNvPr>
          <p:cNvSpPr txBox="1"/>
          <p:nvPr/>
        </p:nvSpPr>
        <p:spPr>
          <a:xfrm>
            <a:off x="1095317" y="5354781"/>
            <a:ext cx="48219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https://www.researchgate.net/publication/373704983/figure/fig1/AS:11431281186807130@1694023118989/Pulse-waveform-analysis-of-ICP-Type-A-indicates-normal-ICP-there-is-a-stepwise.png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FB24991-8D61-AC27-9F3B-8316B2EEA563}"/>
              </a:ext>
            </a:extLst>
          </p:cNvPr>
          <p:cNvSpPr txBox="1"/>
          <p:nvPr/>
        </p:nvSpPr>
        <p:spPr>
          <a:xfrm>
            <a:off x="6632520" y="4766301"/>
            <a:ext cx="540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latin typeface="Calibri" panose="020F0502020204030204" pitchFamily="34" charset="0"/>
                <a:cs typeface="Calibri" panose="020F0502020204030204" pitchFamily="34" charset="0"/>
              </a:rPr>
              <a:t>Zmiana kształtu fali sygnalizuje pogorszenie kompensacji zanim nastąpi wzrost średniego ICP</a:t>
            </a:r>
          </a:p>
        </p:txBody>
      </p:sp>
    </p:spTree>
    <p:extLst>
      <p:ext uri="{BB962C8B-B14F-4D97-AF65-F5344CB8AC3E}">
        <p14:creationId xmlns:p14="http://schemas.microsoft.com/office/powerpoint/2010/main" val="2195041195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21ADE09-60C4-F7F3-8D1A-FA2946C15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pl-PL" dirty="0"/>
              <a:t>artefakty ruchowe</a:t>
            </a:r>
          </a:p>
          <a:p>
            <a:pPr>
              <a:buFontTx/>
              <a:buChar char="-"/>
            </a:pPr>
            <a:r>
              <a:rPr lang="pl-PL" dirty="0"/>
              <a:t>szumy</a:t>
            </a:r>
          </a:p>
          <a:p>
            <a:pPr>
              <a:buFontTx/>
              <a:buChar char="-"/>
            </a:pPr>
            <a:r>
              <a:rPr lang="pl-PL" dirty="0"/>
              <a:t>duża zmienność osobnicza</a:t>
            </a:r>
          </a:p>
          <a:p>
            <a:pPr>
              <a:buFontTx/>
              <a:buChar char="-"/>
            </a:pPr>
            <a:r>
              <a:rPr lang="pl-PL" dirty="0"/>
              <a:t>częściowa lub niejednoznaczna prezentacja szczytów P1, P2 i P3</a:t>
            </a:r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7E10F25C-2FBE-49AB-E9F3-C69826C6398C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pl-PL" dirty="0"/>
              <a:t>zapewnia ciągły monitoring </a:t>
            </a:r>
            <a:br>
              <a:rPr lang="pl-PL" dirty="0"/>
            </a:br>
            <a:r>
              <a:rPr lang="pl-PL" dirty="0"/>
              <a:t>w czasie rzeczywistym</a:t>
            </a:r>
          </a:p>
          <a:p>
            <a:pPr>
              <a:buFontTx/>
              <a:buChar char="-"/>
            </a:pPr>
            <a:r>
              <a:rPr lang="pl-PL" dirty="0"/>
              <a:t>nie wymaga przeprowadzania dodatkowych inwazyjnych testów</a:t>
            </a:r>
          </a:p>
          <a:p>
            <a:pPr>
              <a:buFontTx/>
              <a:buChar char="-"/>
            </a:pPr>
            <a:r>
              <a:rPr lang="pl-PL" dirty="0"/>
              <a:t>pozwala przewidywać pogorszenie stanu pacjenta</a:t>
            </a:r>
          </a:p>
          <a:p>
            <a:pPr>
              <a:buFontTx/>
              <a:buChar char="-"/>
            </a:pPr>
            <a:r>
              <a:rPr lang="pl-PL" dirty="0"/>
              <a:t>umożliwia ocenę dynamiki kompensacji w odpowiedzi na interwencje terapeutyczne</a:t>
            </a:r>
          </a:p>
          <a:p>
            <a:pPr>
              <a:buFontTx/>
              <a:buChar char="-"/>
            </a:pPr>
            <a:endParaRPr lang="pl-PL" dirty="0"/>
          </a:p>
        </p:txBody>
      </p:sp>
      <p:sp>
        <p:nvSpPr>
          <p:cNvPr id="13" name="Symbol zastępczy tekstu 12">
            <a:extLst>
              <a:ext uri="{FF2B5EF4-FFF2-40B4-BE49-F238E27FC236}">
                <a16:creationId xmlns:a16="http://schemas.microsoft.com/office/drawing/2014/main" id="{F80BA04A-2035-DC31-03BA-3E61EA53180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algn="ctr"/>
            <a:r>
              <a:rPr lang="pl-PL" sz="2800" dirty="0"/>
              <a:t>Główne problemy</a:t>
            </a:r>
          </a:p>
        </p:txBody>
      </p:sp>
      <p:sp>
        <p:nvSpPr>
          <p:cNvPr id="15" name="Symbol zastępczy tekstu 14">
            <a:extLst>
              <a:ext uri="{FF2B5EF4-FFF2-40B4-BE49-F238E27FC236}">
                <a16:creationId xmlns:a16="http://schemas.microsoft.com/office/drawing/2014/main" id="{B9B4AE8A-C953-4A3B-4088-113AD5EADE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algn="ctr"/>
            <a:r>
              <a:rPr lang="pl-PL" sz="2800" dirty="0"/>
              <a:t>Zalety</a:t>
            </a:r>
          </a:p>
        </p:txBody>
      </p:sp>
      <p:sp>
        <p:nvSpPr>
          <p:cNvPr id="5" name="Symbol zastępczy tekstu 3">
            <a:extLst>
              <a:ext uri="{FF2B5EF4-FFF2-40B4-BE49-F238E27FC236}">
                <a16:creationId xmlns:a16="http://schemas.microsoft.com/office/drawing/2014/main" id="{F5422212-C231-33E9-C195-02B8A7B43B6D}"/>
              </a:ext>
            </a:extLst>
          </p:cNvPr>
          <p:cNvSpPr txBox="1">
            <a:spLocks/>
          </p:cNvSpPr>
          <p:nvPr/>
        </p:nvSpPr>
        <p:spPr bwMode="auto">
          <a:xfrm>
            <a:off x="1007435" y="188640"/>
            <a:ext cx="11046297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pl-PL" b="1" kern="0" dirty="0"/>
              <a:t>Analiza kształtu fali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01AC9A8-68D6-52BF-D45D-AAC77B923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wykorzystanie pochodnych pierwszego i drugiego rzędu do detekcji ekstremów lokalnych</a:t>
            </a: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l-PL" altLang="pl-P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073286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CEAB6D50-563E-1C2F-4176-8B1166DE1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71531" y="1556792"/>
            <a:ext cx="10152536" cy="518457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400" dirty="0"/>
              <a:t>M. C. Dewan, A. </a:t>
            </a:r>
            <a:r>
              <a:rPr lang="en-US" sz="1400" dirty="0" err="1"/>
              <a:t>Rattani</a:t>
            </a:r>
            <a:r>
              <a:rPr lang="en-US" sz="1400" dirty="0"/>
              <a:t>, S. Gupta, R. E. </a:t>
            </a:r>
            <a:r>
              <a:rPr lang="en-US" sz="1400" dirty="0" err="1"/>
              <a:t>Baticulon</a:t>
            </a:r>
            <a:r>
              <a:rPr lang="en-US" sz="1400" dirty="0"/>
              <a:t>, Y. C. Hung, M. Punchak, A. Agrawal, A. O. Adeleye, M. G. Shrime, A. M. Rubiano, J. V. Rosenfeld, K. B. Park, Estimating the global incidence of traumatic brain injury, Journal of Neurosurgery, 2019, 130(4), 1080–1097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L. A. </a:t>
            </a:r>
            <a:r>
              <a:rPr lang="en-US" sz="1400" dirty="0" err="1"/>
              <a:t>Calviello</a:t>
            </a:r>
            <a:r>
              <a:rPr lang="en-US" sz="1400" dirty="0"/>
              <a:t>, Clinical Applications of Neuromonitoring Following Acute Brain Injury, PhD Dissertation, University of Cambridge, 2019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J. </a:t>
            </a:r>
            <a:r>
              <a:rPr lang="en-US" sz="1400" dirty="0" err="1"/>
              <a:t>Sahuquillo</a:t>
            </a:r>
            <a:r>
              <a:rPr lang="en-US" sz="1400" dirty="0"/>
              <a:t>, M. A. Poca, M. Arribas, A. </a:t>
            </a:r>
            <a:r>
              <a:rPr lang="en-US" sz="1400" dirty="0" err="1"/>
              <a:t>Garnacho</a:t>
            </a:r>
            <a:r>
              <a:rPr lang="en-US" sz="1400" dirty="0"/>
              <a:t>, E. Rubio. Interhemispheric supra-tentorial intracranial pressure gradients in head-injured patients: are they clinically important?, Journal of Neurosurgery, 1999, 90, 16–26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F. Gjerris, J. Brennum, O. B. Paulson, P. S. Sørensen The cerebrospinal fluid, intracranial pressure and herniation of the brain, Clinical Neurology and Neurosurgery, 2004, 179–196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S. L. Bratton, R. M. </a:t>
            </a:r>
            <a:r>
              <a:rPr lang="en-US" sz="1400" dirty="0" err="1"/>
              <a:t>Chesnut</a:t>
            </a:r>
            <a:r>
              <a:rPr lang="en-US" sz="1400" dirty="0"/>
              <a:t>, J. Ghajar, Guidelines for the management of severe traumatic brain injury. VIII. Intracranial pressure thresholds, Journal of Neurotrauma, 2007, 24 (supplement 1), 55–58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H. Dai, X. Jia, L. </a:t>
            </a:r>
            <a:r>
              <a:rPr lang="en-US" sz="1400" dirty="0" err="1"/>
              <a:t>Pahren</a:t>
            </a:r>
            <a:r>
              <a:rPr lang="en-US" sz="1400" dirty="0"/>
              <a:t>, J. Lee, B. Foreman, Intracranial Pressure Monitoring Signals After Traumatic Brain Injury: A Narrative Overview and Conceptual Data Science Framework, Frontiers in Neurology, 2020, 11, 959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M. Czosnyka, P. </a:t>
            </a:r>
            <a:r>
              <a:rPr lang="en-US" sz="1400" dirty="0" err="1"/>
              <a:t>Smielewski</a:t>
            </a:r>
            <a:r>
              <a:rPr lang="en-US" sz="1400" dirty="0"/>
              <a:t>, I. Timofeev, Intracranial pressure: more than a number, Neurosurgical Focus, 2007, 22(5), E10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T. Ellis, J. McNames, M. Aboy, Pulse morphology visualization and analysis with applications in cardiovascular pressure signals, IEEE Transactions on Biomedical Engineering, 2007, 54(9), 1552–1559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J. Y. Fan, C. Kirkness, P. Vicini, R. Burr, P. Mitchell, Intracranial pressure waveform morphology and intracranial adaptive capacity, American Journal of Critical Care, 2008, 17(6), 545–554</a:t>
            </a:r>
            <a:endParaRPr lang="pl-PL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D. </a:t>
            </a:r>
            <a:r>
              <a:rPr lang="en-US" sz="1400" dirty="0" err="1"/>
              <a:t>Legé</a:t>
            </a:r>
            <a:r>
              <a:rPr lang="en-US" sz="1400" dirty="0"/>
              <a:t>, L. </a:t>
            </a:r>
            <a:r>
              <a:rPr lang="en-US" sz="1400" dirty="0" err="1"/>
              <a:t>Gergelé</a:t>
            </a:r>
            <a:r>
              <a:rPr lang="en-US" sz="1400" dirty="0"/>
              <a:t>, M. </a:t>
            </a:r>
            <a:r>
              <a:rPr lang="en-US" sz="1400" dirty="0" err="1"/>
              <a:t>Prud'homme</a:t>
            </a:r>
            <a:r>
              <a:rPr lang="en-US" sz="1400" dirty="0"/>
              <a:t>, J. C. </a:t>
            </a:r>
            <a:r>
              <a:rPr lang="en-US" sz="1400" dirty="0" err="1"/>
              <a:t>Lapayre</a:t>
            </a:r>
            <a:r>
              <a:rPr lang="en-US" sz="1400" dirty="0"/>
              <a:t>, Y. Launey, J. Henriet, A Deep Learning-Based Automated Framework for Subpeak Designation on Intracranial Pressure Signals, Sensors (Basel), 2023, 23(18), 7834</a:t>
            </a:r>
            <a:endParaRPr lang="pl-PL" sz="1400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EE5DD4C-E6E5-E6EC-5634-94B84684E3D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Bibliografia</a:t>
            </a:r>
          </a:p>
        </p:txBody>
      </p:sp>
    </p:spTree>
    <p:extLst>
      <p:ext uri="{BB962C8B-B14F-4D97-AF65-F5344CB8AC3E}">
        <p14:creationId xmlns:p14="http://schemas.microsoft.com/office/powerpoint/2010/main" val="3875980149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zentacja_16x9_2024_EN_v1.pptx" id="{F5C931F4-DA4F-4909-B1BA-D82F393E5015}" vid="{89C86CC8-0679-45F0-929E-0A1214B0D019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prezentacja_16x9_2024_en_v1</Template>
  <TotalTime>311</TotalTime>
  <Words>803</Words>
  <Application>Microsoft Office PowerPoint</Application>
  <PresentationFormat>Panoramiczny</PresentationFormat>
  <Paragraphs>64</Paragraphs>
  <Slides>9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szablon1-PL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 Jaworska</dc:creator>
  <cp:lastModifiedBy>Hanna Jaworska</cp:lastModifiedBy>
  <cp:revision>6</cp:revision>
  <cp:lastPrinted>2017-02-27T13:04:48Z</cp:lastPrinted>
  <dcterms:created xsi:type="dcterms:W3CDTF">2025-10-16T10:51:27Z</dcterms:created>
  <dcterms:modified xsi:type="dcterms:W3CDTF">2025-10-16T21:19:39Z</dcterms:modified>
</cp:coreProperties>
</file>