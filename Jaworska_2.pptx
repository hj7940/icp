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86" r:id="rId2"/>
    <p:sldId id="290" r:id="rId3"/>
    <p:sldId id="300" r:id="rId4"/>
    <p:sldId id="301" r:id="rId5"/>
    <p:sldId id="302" r:id="rId6"/>
    <p:sldId id="303" r:id="rId7"/>
    <p:sldId id="304" r:id="rId8"/>
    <p:sldId id="308" r:id="rId9"/>
    <p:sldId id="305" r:id="rId10"/>
    <p:sldId id="306" r:id="rId11"/>
    <p:sldId id="307" r:id="rId12"/>
    <p:sldId id="298" r:id="rId13"/>
  </p:sldIdLst>
  <p:sldSz cx="12192000" cy="6858000"/>
  <p:notesSz cx="9926638" cy="6797675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0F0"/>
    <a:srgbClr val="5CA5E2"/>
    <a:srgbClr val="F8D7CE"/>
    <a:srgbClr val="E87989"/>
    <a:srgbClr val="B11D09"/>
    <a:srgbClr val="A7190E"/>
    <a:srgbClr val="FF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 jasny 1 — Ak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yl jasny 2 — Ak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C2FFA5D-87B4-456A-9821-1D502468CF0F}" styleName="Styl z motywem 1 — Ak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75" autoAdjust="0"/>
  </p:normalViewPr>
  <p:slideViewPr>
    <p:cSldViewPr snapToObjects="1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410370A-4EA9-4720-9F5E-1510D96B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30C2684-42A7-4DF6-9FE1-7001D18670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4014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8051A36-CCDA-46D6-8751-4C8D74526861}" type="datetimeFigureOut">
              <a:rPr lang="pl-PL"/>
              <a:pPr>
                <a:defRPr/>
              </a:pPr>
              <a:t>07.11.2025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ACFDFD6-3813-49B7-BB0F-191E9B212A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324"/>
            <a:ext cx="4300307" cy="340264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82F540B-711C-459B-8E06-9C4104A3CF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4014" y="6456324"/>
            <a:ext cx="4300307" cy="340264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8F4FCD9-BA7F-48A7-B3B3-82ADBA7B3B21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D818A71B-DC1F-408C-B3D1-E849FB7B4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C2135F-0056-4A00-9936-7DC2A5ED36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624014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9958589B-E6FC-4863-935D-DE3851DA945C}" type="datetimeFigureOut">
              <a:rPr lang="pl-PL"/>
              <a:pPr>
                <a:defRPr/>
              </a:pPr>
              <a:t>07.11.2025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2A0AA2D0-0220-4B41-946E-A13520E0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29138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2" tIns="50141" rIns="100282" bIns="50141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ED235504-81E4-44E6-8904-ECD328F55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92201" y="3228705"/>
            <a:ext cx="7942238" cy="3059117"/>
          </a:xfrm>
          <a:prstGeom prst="rect">
            <a:avLst/>
          </a:prstGeom>
        </p:spPr>
        <p:txBody>
          <a:bodyPr vert="horz" lIns="100282" tIns="50141" rIns="100282" bIns="50141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D310A0-03E4-4B1C-8E07-370908C2D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6456324"/>
            <a:ext cx="4300307" cy="340264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4850364-4A0B-4F60-93B9-58F4EA961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624014" y="6456324"/>
            <a:ext cx="4300307" cy="340264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D580E2B2-3987-459E-9E73-FCE4CF2EC872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11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86678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138B1951-AD23-4425-9B6F-B6FE41B8412E}"/>
              </a:ext>
            </a:extLst>
          </p:cNvPr>
          <p:cNvSpPr txBox="1">
            <a:spLocks/>
          </p:cNvSpPr>
          <p:nvPr/>
        </p:nvSpPr>
        <p:spPr bwMode="auto">
          <a:xfrm>
            <a:off x="387351" y="2420939"/>
            <a:ext cx="11521016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>
              <a:defRPr/>
            </a:pPr>
            <a:endParaRPr lang="pl-PL" sz="4000" kern="0" dirty="0">
              <a:latin typeface="Calibri" panose="020F050202020403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28D5811-6A0A-468C-90DC-4B945CF4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988840"/>
            <a:ext cx="10152536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871531" y="116632"/>
            <a:ext cx="10152536" cy="1728192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8F1A1287-80D1-49F2-BADB-63A496BF1E38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2C47AA24-DEFC-42F7-9344-2792C6EB5D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136681"/>
            <a:ext cx="1232561" cy="2127893"/>
          </a:xfrm>
          <a:prstGeom prst="rect">
            <a:avLst/>
          </a:prstGeom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233517F7-AC92-4711-A134-3525EF63D49D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19" name="Symbol zastępczy obrazu 4">
            <a:extLst>
              <a:ext uri="{FF2B5EF4-FFF2-40B4-BE49-F238E27FC236}">
                <a16:creationId xmlns:a16="http://schemas.microsoft.com/office/drawing/2014/main" id="{4978960D-5E62-47B8-B987-8B51D5F41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5A4122E7-9E6B-43B2-84C0-537E3099DD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6699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4">
            <a:extLst>
              <a:ext uri="{FF2B5EF4-FFF2-40B4-BE49-F238E27FC236}">
                <a16:creationId xmlns:a16="http://schemas.microsoft.com/office/drawing/2014/main" id="{554F3A11-EEA8-42B0-904A-8D56848B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6272226" y="2492896"/>
            <a:ext cx="5751841" cy="1152128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16632"/>
            <a:ext cx="4224469" cy="66247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6272226" y="116632"/>
            <a:ext cx="5751841" cy="2232248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2"/>
          </p:nvPr>
        </p:nvSpPr>
        <p:spPr>
          <a:xfrm>
            <a:off x="6272225" y="3861048"/>
            <a:ext cx="5751843" cy="2880320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44D2146-237E-446E-96A3-073E895DF9EF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AE9F8729-CB38-4705-BC57-D32B8B1B9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136681"/>
            <a:ext cx="1232561" cy="2127893"/>
          </a:xfrm>
          <a:prstGeom prst="rect">
            <a:avLst/>
          </a:prstGeom>
        </p:spPr>
      </p:pic>
      <p:sp>
        <p:nvSpPr>
          <p:cNvPr id="23" name="Prostokąt 22">
            <a:extLst>
              <a:ext uri="{FF2B5EF4-FFF2-40B4-BE49-F238E27FC236}">
                <a16:creationId xmlns:a16="http://schemas.microsoft.com/office/drawing/2014/main" id="{233517F7-AC92-4711-A134-3525EF63D49D}"/>
              </a:ext>
            </a:extLst>
          </p:cNvPr>
          <p:cNvSpPr/>
          <p:nvPr userDrawn="1"/>
        </p:nvSpPr>
        <p:spPr>
          <a:xfrm>
            <a:off x="288388" y="5013176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24" name="Symbol zastępczy obrazu 4">
            <a:extLst>
              <a:ext uri="{FF2B5EF4-FFF2-40B4-BE49-F238E27FC236}">
                <a16:creationId xmlns:a16="http://schemas.microsoft.com/office/drawing/2014/main" id="{4978960D-5E62-47B8-B987-8B51D5F41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61191" y="5734137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5A4122E7-9E6B-43B2-84C0-537E3099DD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32" y="5162692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04369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4">
            <a:extLst>
              <a:ext uri="{FF2B5EF4-FFF2-40B4-BE49-F238E27FC236}">
                <a16:creationId xmlns:a16="http://schemas.microsoft.com/office/drawing/2014/main" id="{C86E8BA2-DF0C-4553-ABEE-2AA703CAD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A7CBBD8-F20F-4CFA-A1C0-A2BD928C98EE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92C32551-02FA-4391-BD24-420530585A40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C303F6B8-DC1A-451A-B7C8-76DEF78CD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61775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F446A836-1F6A-44FD-A507-72760F9AD1E7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8C20DE13-7457-4626-BE75-0D6CC48F2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DE4C6FF5-B562-440C-B37F-2991087E69D0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4" y="1844824"/>
            <a:ext cx="4896545" cy="4968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6095238" y="1844824"/>
            <a:ext cx="5953423" cy="4968553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3" y="1120626"/>
            <a:ext cx="11041227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EAFB6B00-2019-4AD7-82E4-7DCE973AB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53814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85B50D36-29A4-4384-AB09-BBD226989967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3ECACFEE-8855-436E-B24A-E1DC4A4F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F1D416BD-FDA9-41E2-9ABB-44EC43B1E1FC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4" y="1628801"/>
            <a:ext cx="5376599" cy="511256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576054" y="1628801"/>
            <a:ext cx="5477679" cy="511256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44624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3" y="548680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3824B075-17CA-4CAF-B059-6272213C2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54396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stokąt 12">
            <a:extLst>
              <a:ext uri="{FF2B5EF4-FFF2-40B4-BE49-F238E27FC236}">
                <a16:creationId xmlns:a16="http://schemas.microsoft.com/office/drawing/2014/main" id="{C6E2C7D1-3BD9-4A24-B4CF-104AFC655614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4">
            <a:extLst>
              <a:ext uri="{FF2B5EF4-FFF2-40B4-BE49-F238E27FC236}">
                <a16:creationId xmlns:a16="http://schemas.microsoft.com/office/drawing/2014/main" id="{719BE861-94A7-4968-91BA-65140916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EB2396A7-488D-4B29-B27E-B1F82536D5B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A62151E8-16EA-4C9B-BE36-3955B91A3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39376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A3CF7106-AAC5-4336-AEA0-B600B7DBB6D0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4">
            <a:extLst>
              <a:ext uri="{FF2B5EF4-FFF2-40B4-BE49-F238E27FC236}">
                <a16:creationId xmlns:a16="http://schemas.microsoft.com/office/drawing/2014/main" id="{CB9EE27C-4280-4699-B0FB-00C29EC06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0900F33-D32C-4F5F-BC7D-BCD466A03069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1424" y="116632"/>
            <a:ext cx="4416491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519936" y="116632"/>
            <a:ext cx="6528725" cy="6624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911424" y="1435100"/>
            <a:ext cx="4416491" cy="53062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9125962-42A1-4453-833C-33FF69F7EE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3153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FAC1082C-5AA9-4C8A-9F4F-BC1FBB2899FF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4">
            <a:extLst>
              <a:ext uri="{FF2B5EF4-FFF2-40B4-BE49-F238E27FC236}">
                <a16:creationId xmlns:a16="http://schemas.microsoft.com/office/drawing/2014/main" id="{38114D0A-9A9F-4AC0-AB2B-9D7ECEC1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70C72BC-1685-4E5C-9AB7-8C22C053D08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05269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5" y="283"/>
            <a:ext cx="11184061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3005269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BF0F1EC3-0F5E-4C45-8FAD-72B567C418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31103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3BFB7953-19B6-41F5-AAD5-D23DCF4695E6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776E1DE-8E59-4FAF-828C-A1E3A9F6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2378A4F9-4C6D-448A-9C2B-718DC76E7A0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07435" y="116632"/>
            <a:ext cx="11041227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772817"/>
            <a:ext cx="11041227" cy="496855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438BA98-E092-4BD0-BCD1-4BCE3BDD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4643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B33CD6CA-CE75-4C42-A1BA-022400A1DA83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D3AAED1-1E56-4E0F-BA47-B297E2E3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8EFA466E-1A63-45EC-9BBE-3350A7902656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116632"/>
            <a:ext cx="3209461" cy="6696744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16632"/>
            <a:ext cx="7628565" cy="66967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4CC311B-E0AF-4A4C-8EF3-A10DB162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36459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A9D2542B-478A-4E26-A12F-4232999A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4" y="115888"/>
            <a:ext cx="11040533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3201AC01-9E6A-4CE5-A822-FEB3753C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773239"/>
            <a:ext cx="11040533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D082F18C-2043-4D64-8064-A75306075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279532" y="3789041"/>
            <a:ext cx="9504464" cy="1152128"/>
          </a:xfrm>
        </p:spPr>
        <p:txBody>
          <a:bodyPr/>
          <a:lstStyle/>
          <a:p>
            <a:pPr algn="ctr"/>
            <a:r>
              <a:rPr lang="en-US" dirty="0"/>
              <a:t>Implementation of an algorithm for morphological analysis of intracranial pressure pulse waveform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EC8470A-D0D2-4ECC-A4D3-F4CC7849E82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847082" y="576347"/>
            <a:ext cx="10320469" cy="2996671"/>
          </a:xfrm>
        </p:spPr>
        <p:txBody>
          <a:bodyPr/>
          <a:lstStyle/>
          <a:p>
            <a:pPr algn="ctr"/>
            <a:r>
              <a:rPr lang="pl-PL" dirty="0"/>
              <a:t>Implementacja algorytmu do analizy morfologicznej fali tętniczopochodnej ciśnienia wewnątrzczaszkowego</a:t>
            </a:r>
          </a:p>
        </p:txBody>
      </p:sp>
      <p:sp>
        <p:nvSpPr>
          <p:cNvPr id="7" name="Symbol zastępczy tekstu 2">
            <a:extLst>
              <a:ext uri="{FF2B5EF4-FFF2-40B4-BE49-F238E27FC236}">
                <a16:creationId xmlns:a16="http://schemas.microsoft.com/office/drawing/2014/main" id="{AF48B49A-01F5-4B02-CAC1-967F206AE830}"/>
              </a:ext>
            </a:extLst>
          </p:cNvPr>
          <p:cNvSpPr txBox="1">
            <a:spLocks/>
          </p:cNvSpPr>
          <p:nvPr/>
        </p:nvSpPr>
        <p:spPr bwMode="auto">
          <a:xfrm>
            <a:off x="2039505" y="5157192"/>
            <a:ext cx="9984518" cy="1184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pl-PL" sz="3200" kern="0" dirty="0"/>
              <a:t>autor: Hanna Jaworska</a:t>
            </a:r>
          </a:p>
          <a:p>
            <a:pPr algn="ctr"/>
            <a:r>
              <a:rPr lang="pl-PL" sz="3200" kern="0" dirty="0"/>
              <a:t>opiekun: dr inż. Agnieszka Kazimierska</a:t>
            </a:r>
          </a:p>
        </p:txBody>
      </p:sp>
    </p:spTree>
    <p:extLst>
      <p:ext uri="{BB962C8B-B14F-4D97-AF65-F5344CB8AC3E}">
        <p14:creationId xmlns:p14="http://schemas.microsoft.com/office/powerpoint/2010/main" val="2619901615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9634F34-511D-8D9D-6E94-312BC9F1A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3" y="1268761"/>
            <a:ext cx="11046299" cy="3111364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Opracowanie i implementacja algorytmu umożliwiającego automatyczne wykrywanie punktów charakterystycznych (maksimów lokalnych: P1, P2, P3) w przebiegu fali tętniczopochodnej sygnału ciśnienia śródczaszkowego oraz ocenę ich parametrów w kontekście zgodności mózgowej i rezerwy kompensacyjnej pacjentów z urazowym uszkodzeniem mózgu oraz wodogłowiem, w tym przeprowadzenie analizy statystycznej.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75EAF32-7527-7BD2-FFE6-286F0FB0BA0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77769" y="188640"/>
            <a:ext cx="11046299" cy="864096"/>
          </a:xfrm>
        </p:spPr>
        <p:txBody>
          <a:bodyPr/>
          <a:lstStyle/>
          <a:p>
            <a:pPr algn="ctr"/>
            <a:r>
              <a:rPr lang="pl-PL" b="1" dirty="0"/>
              <a:t>Cel pracy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6CE7104-8B92-D797-5196-33684412731D}"/>
              </a:ext>
            </a:extLst>
          </p:cNvPr>
          <p:cNvSpPr txBox="1"/>
          <p:nvPr/>
        </p:nvSpPr>
        <p:spPr>
          <a:xfrm>
            <a:off x="2711624" y="4581128"/>
            <a:ext cx="82809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słowa kluczowe: ciśnienie wewnątrzczaszkowe, fala tętniczopochodna, podatność mózgowa, urazowe uszkodzenie mózgu, rezerwa kompensacyjna, analiza sygnału biomedycznego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keywords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intracranial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pressure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pulse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waveform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cerebrospinal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compliance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traumatic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brain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injury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compensatory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reserve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biomedical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signal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analysis</a:t>
            </a:r>
            <a:endParaRPr kumimoji="0" lang="pl-PL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443451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ulse waveform analysis of ICP. Type A indicates normal ICP; there is a...  | Download Scientific Diagram">
            <a:extLst>
              <a:ext uri="{FF2B5EF4-FFF2-40B4-BE49-F238E27FC236}">
                <a16:creationId xmlns:a16="http://schemas.microsoft.com/office/drawing/2014/main" id="{7BF97F3C-C4A5-894B-00B8-56FC5B0B18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8" r="19065"/>
          <a:stretch>
            <a:fillRect/>
          </a:stretch>
        </p:blipFill>
        <p:spPr bwMode="auto">
          <a:xfrm>
            <a:off x="7003843" y="1137624"/>
            <a:ext cx="504056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3D99CEF-9B2C-CEE6-D3BC-5E243AC2785A}"/>
              </a:ext>
            </a:extLst>
          </p:cNvPr>
          <p:cNvSpPr txBox="1"/>
          <p:nvPr/>
        </p:nvSpPr>
        <p:spPr>
          <a:xfrm>
            <a:off x="7130769" y="5127012"/>
            <a:ext cx="48219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https://www.researchgate.net/publication/373704983/figure/fig1/AS:11431281186807130@1694023118989/Pulse-waveform-analysis-of-ICP-Type-A-indicates-normal-ICP-there-is-a-stepwise.png</a:t>
            </a:r>
          </a:p>
        </p:txBody>
      </p:sp>
      <p:pic>
        <p:nvPicPr>
          <p:cNvPr id="7" name="Picture 2" descr="Intracranial Pressure-Volume curve. Note the small increase in... |  Download Scientific Diagram">
            <a:extLst>
              <a:ext uri="{FF2B5EF4-FFF2-40B4-BE49-F238E27FC236}">
                <a16:creationId xmlns:a16="http://schemas.microsoft.com/office/drawing/2014/main" id="{1C48DEDE-0D72-1E3C-356F-88370F2FD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76" y="1380000"/>
            <a:ext cx="5976664" cy="383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A657EE25-9C36-C98B-BB4E-19F3E4DCA3BD}"/>
              </a:ext>
            </a:extLst>
          </p:cNvPr>
          <p:cNvSpPr txBox="1"/>
          <p:nvPr/>
        </p:nvSpPr>
        <p:spPr>
          <a:xfrm>
            <a:off x="1127444" y="5234734"/>
            <a:ext cx="58940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https://www.researchgate.net/publication/311525405/figure/fig1/AS:752006645948417@1556303764554/ntracranial-Pressure-Volume-curve-Note-the-small-increase-in-intracranial-pressure-with.png</a:t>
            </a:r>
          </a:p>
        </p:txBody>
      </p:sp>
    </p:spTree>
    <p:extLst>
      <p:ext uri="{BB962C8B-B14F-4D97-AF65-F5344CB8AC3E}">
        <p14:creationId xmlns:p14="http://schemas.microsoft.com/office/powerpoint/2010/main" val="1593812291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600C0A-7CDC-2BD5-39D2-F1A3C387D4B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DC69104-6CCF-4354-A2A2-1E63C23067FB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159904"/>
            <a:ext cx="11046299" cy="864096"/>
          </a:xfrm>
        </p:spPr>
        <p:txBody>
          <a:bodyPr/>
          <a:lstStyle/>
          <a:p>
            <a:r>
              <a:rPr lang="pl-PL" dirty="0"/>
              <a:t>Materiał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1427925-E627-FC15-99E1-8136C8350BD9}"/>
              </a:ext>
            </a:extLst>
          </p:cNvPr>
          <p:cNvSpPr txBox="1"/>
          <p:nvPr/>
        </p:nvSpPr>
        <p:spPr>
          <a:xfrm>
            <a:off x="1271464" y="5945707"/>
            <a:ext cx="43924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https://www.mdpi.com/biomedicines/biomedicines-12-00643/article_deploy/html/images/biomedicines-12-00643-g001-550.jpg</a:t>
            </a:r>
            <a:endParaRPr lang="pl-PL" sz="1400" dirty="0"/>
          </a:p>
        </p:txBody>
      </p:sp>
      <p:pic>
        <p:nvPicPr>
          <p:cNvPr id="1026" name="Picture 2" descr="Neurotrauma—From Injury to Repair: Clinical Perspectives, Cellular  Mechanisms and Promoting Regeneration of the Injured Brain and Spinal Cord">
            <a:extLst>
              <a:ext uri="{FF2B5EF4-FFF2-40B4-BE49-F238E27FC236}">
                <a16:creationId xmlns:a16="http://schemas.microsoft.com/office/drawing/2014/main" id="{FC88C16E-9B10-1B40-B175-01E142FB5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7" y="1882875"/>
            <a:ext cx="4752529" cy="404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wal 9">
            <a:extLst>
              <a:ext uri="{FF2B5EF4-FFF2-40B4-BE49-F238E27FC236}">
                <a16:creationId xmlns:a16="http://schemas.microsoft.com/office/drawing/2014/main" id="{9D280C9D-9E40-4352-BB0B-DB63ADD9F6A3}"/>
              </a:ext>
            </a:extLst>
          </p:cNvPr>
          <p:cNvSpPr/>
          <p:nvPr/>
        </p:nvSpPr>
        <p:spPr>
          <a:xfrm>
            <a:off x="1677763" y="1670813"/>
            <a:ext cx="2155063" cy="1553997"/>
          </a:xfrm>
          <a:prstGeom prst="ellipse">
            <a:avLst/>
          </a:prstGeom>
          <a:noFill/>
          <a:ln w="57150">
            <a:solidFill>
              <a:srgbClr val="5CA5E2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258ECA1-0AB1-A152-4AC7-8219F2600C51}"/>
              </a:ext>
            </a:extLst>
          </p:cNvPr>
          <p:cNvSpPr txBox="1"/>
          <p:nvPr/>
        </p:nvSpPr>
        <p:spPr>
          <a:xfrm>
            <a:off x="6128146" y="1133012"/>
            <a:ext cx="590465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50 pacjentów przyjętych na Oddział Intensywnej Opieki Medycznej Uniwersyteckiego Szpitala Klinicznego we Wrocławiu w latach 2014–2019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pacjenci dorośli, z rozpoznaniem TBI (</a:t>
            </a:r>
            <a:r>
              <a:rPr lang="pl-P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Traumatic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 Brain </a:t>
            </a:r>
            <a:r>
              <a:rPr lang="pl-P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Disorder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, ang. urazowe uszkodzenie mózgu) lub </a:t>
            </a:r>
            <a:r>
              <a:rPr lang="pl-P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aSAH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pl-P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aneurysmal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subarachnoid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haemorrhage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, ang. tętniakowy krwotok podpajęczynówkowy)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ICP mierzone z wykorzystaniem </a:t>
            </a:r>
            <a:r>
              <a:rPr lang="pl-PL" sz="2400" b="1" dirty="0">
                <a:latin typeface="Calibri" panose="020F0502020204030204" pitchFamily="34" charset="0"/>
                <a:cs typeface="Calibri" panose="020F0502020204030204" pitchFamily="34" charset="0"/>
              </a:rPr>
              <a:t>czujników śródmiąższowych </a:t>
            </a: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wprowadzonych do kory czołowej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długość rejestracji: średnio 5 ± 3 dni</a:t>
            </a:r>
          </a:p>
          <a:p>
            <a:endParaRPr lang="pl-P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829358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890F-ECB9-7973-2682-1C058DA6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C73BF0D-03B0-3366-A499-C6984401D9E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4717A1F-CE65-089E-33E7-FEBF3DF011E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86374"/>
            <a:ext cx="11046299" cy="864096"/>
          </a:xfrm>
        </p:spPr>
        <p:txBody>
          <a:bodyPr/>
          <a:lstStyle/>
          <a:p>
            <a:r>
              <a:rPr lang="pl-PL" dirty="0"/>
              <a:t>Materiał</a:t>
            </a:r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993C8CF-DAD6-CCBF-7A84-FED934CC5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28248" y="1688552"/>
            <a:ext cx="3695820" cy="51248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2400" dirty="0" err="1"/>
              <a:t>resampling</a:t>
            </a:r>
            <a:r>
              <a:rPr lang="pl-PL" sz="2400" dirty="0"/>
              <a:t> do 50 </a:t>
            </a:r>
            <a:r>
              <a:rPr lang="pl-PL" sz="2400" dirty="0" err="1"/>
              <a:t>Hz</a:t>
            </a:r>
            <a:endParaRPr lang="pl-PL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pl-PL" sz="2400" dirty="0"/>
              <a:t>pojedyncze pulsy wydzielone z sygnału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2400" dirty="0"/>
              <a:t>podział na 5 klas morfologicznych (1-4 oraz artefakt) z </a:t>
            </a:r>
            <a:r>
              <a:rPr lang="pl-PL" sz="2400" dirty="0" err="1"/>
              <a:t>wykorzytaniem</a:t>
            </a:r>
            <a:r>
              <a:rPr lang="pl-PL" sz="2400" dirty="0"/>
              <a:t> sieci neuronowej </a:t>
            </a:r>
            <a:r>
              <a:rPr lang="pl-PL" sz="2400" dirty="0" err="1"/>
              <a:t>ResNet</a:t>
            </a:r>
            <a:r>
              <a:rPr lang="pl-PL" sz="2400" dirty="0"/>
              <a:t> (82% dokładności)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2400" dirty="0"/>
              <a:t>ręcznie oznaczone punkty referencyjne P1, P2, P3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F73B124-5904-4F87-0EB9-2A5B593C8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53" y="2096852"/>
            <a:ext cx="6944847" cy="2664296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8F0057BA-DAF0-13B5-10F0-CB80AFC1FB6B}"/>
              </a:ext>
            </a:extLst>
          </p:cNvPr>
          <p:cNvSpPr txBox="1"/>
          <p:nvPr/>
        </p:nvSpPr>
        <p:spPr>
          <a:xfrm>
            <a:off x="1279250" y="4975337"/>
            <a:ext cx="67078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https://ieeexplore.ieee.org/mediastore/IEEE/content/media/6221020/9703443/9453152/matac1-3088629-small.gif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3782645067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D081D-0416-DB52-C9A6-59D80CD6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61FA83B-C16B-C796-3053-CBF6B9F3FD5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3371651-7948-59F0-A71F-E768E950D17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105553"/>
            <a:ext cx="11046299" cy="864096"/>
          </a:xfrm>
        </p:spPr>
        <p:txBody>
          <a:bodyPr/>
          <a:lstStyle/>
          <a:p>
            <a:r>
              <a:rPr lang="pl-PL" dirty="0"/>
              <a:t>Materiał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8E0E677D-B286-4472-35A7-EE7D9CF1089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33852130"/>
              </p:ext>
            </p:extLst>
          </p:nvPr>
        </p:nvGraphicFramePr>
        <p:xfrm>
          <a:off x="1008062" y="1620069"/>
          <a:ext cx="2423642" cy="2123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1821">
                  <a:extLst>
                    <a:ext uri="{9D8B030D-6E8A-4147-A177-3AD203B41FA5}">
                      <a16:colId xmlns:a16="http://schemas.microsoft.com/office/drawing/2014/main" val="2159660907"/>
                    </a:ext>
                  </a:extLst>
                </a:gridCol>
                <a:gridCol w="1211821">
                  <a:extLst>
                    <a:ext uri="{9D8B030D-6E8A-4147-A177-3AD203B41FA5}">
                      <a16:colId xmlns:a16="http://schemas.microsoft.com/office/drawing/2014/main" val="2791214432"/>
                    </a:ext>
                  </a:extLst>
                </a:gridCol>
              </a:tblGrid>
              <a:tr h="371386">
                <a:tc>
                  <a:txBody>
                    <a:bodyPr/>
                    <a:lstStyle/>
                    <a:p>
                      <a:r>
                        <a:rPr lang="pl-PL" dirty="0"/>
                        <a:t>klasa</a:t>
                      </a:r>
                    </a:p>
                  </a:txBody>
                  <a:tcPr>
                    <a:solidFill>
                      <a:srgbClr val="AAD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liczba próbek</a:t>
                      </a:r>
                    </a:p>
                  </a:txBody>
                  <a:tcPr>
                    <a:solidFill>
                      <a:srgbClr val="AAD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0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526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55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1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839411"/>
                  </a:ext>
                </a:extLst>
              </a:tr>
            </a:tbl>
          </a:graphicData>
        </a:graphic>
      </p:graphicFrame>
      <p:pic>
        <p:nvPicPr>
          <p:cNvPr id="11" name="Obraz 10" descr="Obraz zawierający tekst, diagram, Wykres, linia&#10;&#10;Zawartość wygenerowana przez AI może być niepoprawna.">
            <a:extLst>
              <a:ext uri="{FF2B5EF4-FFF2-40B4-BE49-F238E27FC236}">
                <a16:creationId xmlns:a16="http://schemas.microsoft.com/office/drawing/2014/main" id="{D0FFEAA5-B96D-9B80-F6C9-C8F0B0372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706" y="1052736"/>
            <a:ext cx="8334471" cy="5531987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98D20EE-CBC2-B117-55B0-71401C2B0F3D}"/>
              </a:ext>
            </a:extLst>
          </p:cNvPr>
          <p:cNvSpPr txBox="1"/>
          <p:nvPr/>
        </p:nvSpPr>
        <p:spPr>
          <a:xfrm>
            <a:off x="993920" y="5030849"/>
            <a:ext cx="25732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sygnały znormalizowane do zakresu 0-1</a:t>
            </a:r>
          </a:p>
          <a:p>
            <a:r>
              <a:rPr lang="pl-PL" dirty="0">
                <a:latin typeface="Calibri" panose="020F0502020204030204" pitchFamily="34" charset="0"/>
                <a:cs typeface="Calibri" panose="020F0502020204030204" pitchFamily="34" charset="0"/>
              </a:rPr>
              <a:t>długość: 180 próbek</a:t>
            </a:r>
          </a:p>
        </p:txBody>
      </p:sp>
    </p:spTree>
    <p:extLst>
      <p:ext uri="{BB962C8B-B14F-4D97-AF65-F5344CB8AC3E}">
        <p14:creationId xmlns:p14="http://schemas.microsoft.com/office/powerpoint/2010/main" val="1135548641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F025924-2452-F04C-9DDE-3042C65F7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3" y="1052736"/>
            <a:ext cx="11016635" cy="576064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2400" dirty="0" err="1"/>
              <a:t>concave</a:t>
            </a:r>
            <a:r>
              <a:rPr lang="pl-PL" sz="2400" dirty="0"/>
              <a:t>: Wyznaczenie maksimów spośród wklęsłych fragmentów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 err="1"/>
              <a:t>Modified</a:t>
            </a:r>
            <a:r>
              <a:rPr lang="pl-PL" sz="2400" dirty="0"/>
              <a:t> </a:t>
            </a:r>
            <a:r>
              <a:rPr lang="pl-PL" sz="2400" dirty="0" err="1"/>
              <a:t>Scholkmann</a:t>
            </a:r>
            <a:br>
              <a:rPr lang="pl-PL" sz="2400" dirty="0"/>
            </a:br>
            <a:r>
              <a:rPr lang="pl-PL" sz="2000" dirty="0"/>
              <a:t>Metoda oparta na porównaniu amplitudy w różnych skalach</a:t>
            </a:r>
            <a:br>
              <a:rPr lang="pl-PL" sz="2000" dirty="0"/>
            </a:br>
            <a:r>
              <a:rPr lang="pl-PL" sz="2000" dirty="0"/>
              <a:t>Piki to punkty, które są lokalnym maksimum dla wielu </a:t>
            </a:r>
            <a:r>
              <a:rPr lang="pl-PL" sz="2000" dirty="0" err="1"/>
              <a:t>skal</a:t>
            </a:r>
            <a:endParaRPr lang="pl-PL" sz="2400" dirty="0"/>
          </a:p>
          <a:p>
            <a:pPr marL="514350" indent="-514350">
              <a:buFont typeface="+mj-lt"/>
              <a:buAutoNum type="arabicPeriod"/>
            </a:pPr>
            <a:r>
              <a:rPr lang="pl-PL" sz="2400" dirty="0" err="1"/>
              <a:t>curvature</a:t>
            </a:r>
            <a:r>
              <a:rPr lang="pl-PL" sz="2400" dirty="0"/>
              <a:t>: Największej krzywizny</a:t>
            </a:r>
            <a:br>
              <a:rPr lang="pl-PL" sz="2400" dirty="0"/>
            </a:br>
            <a:br>
              <a:rPr lang="pl-PL" sz="2400" dirty="0"/>
            </a:br>
            <a:br>
              <a:rPr lang="pl-PL" sz="2400" dirty="0"/>
            </a:br>
            <a:endParaRPr lang="pl-PL" sz="2400" dirty="0"/>
          </a:p>
          <a:p>
            <a:pPr marL="514350" indent="-514350">
              <a:buFont typeface="+mj-lt"/>
              <a:buAutoNum type="arabicPeriod"/>
            </a:pPr>
            <a:r>
              <a:rPr lang="pl-PL" sz="2400" dirty="0" err="1"/>
              <a:t>line</a:t>
            </a:r>
            <a:r>
              <a:rPr lang="pl-PL" sz="2400" dirty="0"/>
              <a:t> </a:t>
            </a:r>
            <a:r>
              <a:rPr lang="pl-PL" sz="2400" dirty="0" err="1"/>
              <a:t>vertical</a:t>
            </a:r>
            <a:r>
              <a:rPr lang="pl-PL" sz="2400" dirty="0"/>
              <a:t>: odległość punktu od linii prostej </a:t>
            </a:r>
            <a:br>
              <a:rPr lang="pl-PL" sz="2400" dirty="0"/>
            </a:br>
            <a:r>
              <a:rPr lang="pl-PL" sz="2400" dirty="0"/>
              <a:t>łączącej końce regionu wklęsłego, </a:t>
            </a:r>
            <a:br>
              <a:rPr lang="pl-PL" sz="2400" dirty="0"/>
            </a:br>
            <a:r>
              <a:rPr lang="pl-PL" sz="2400" dirty="0"/>
              <a:t>mierzona prostopadle do niej)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 err="1"/>
              <a:t>line</a:t>
            </a:r>
            <a:r>
              <a:rPr lang="pl-PL" sz="2400" dirty="0"/>
              <a:t> </a:t>
            </a:r>
            <a:r>
              <a:rPr lang="pl-PL" sz="2400" dirty="0" err="1"/>
              <a:t>perpendicular</a:t>
            </a:r>
            <a:r>
              <a:rPr lang="pl-PL" sz="2400" dirty="0"/>
              <a:t>: odległość punktu</a:t>
            </a:r>
            <a:br>
              <a:rPr lang="pl-PL" sz="2400" dirty="0"/>
            </a:br>
            <a:r>
              <a:rPr lang="pl-PL" sz="2400" dirty="0"/>
              <a:t>od linii prostej  (pionowej) łączącej </a:t>
            </a:r>
            <a:br>
              <a:rPr lang="pl-PL" sz="2400" dirty="0"/>
            </a:br>
            <a:r>
              <a:rPr lang="pl-PL" sz="2400" dirty="0"/>
              <a:t>końce regionu wklęsłego</a:t>
            </a:r>
            <a:br>
              <a:rPr lang="pl-PL" sz="2400" dirty="0"/>
            </a:br>
            <a:endParaRPr lang="pl-PL" sz="2400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480D7B3-FE75-6040-4E23-0EDAF63DCF7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188640"/>
            <a:ext cx="11046299" cy="864096"/>
          </a:xfrm>
        </p:spPr>
        <p:txBody>
          <a:bodyPr/>
          <a:lstStyle/>
          <a:p>
            <a:r>
              <a:rPr lang="pl-PL" dirty="0"/>
              <a:t>Metody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A2E4E44-B15D-E821-A0E2-723EB8F57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217" y="3037244"/>
            <a:ext cx="2448272" cy="1136968"/>
          </a:xfrm>
          <a:prstGeom prst="rect">
            <a:avLst/>
          </a:prstGeom>
        </p:spPr>
      </p:pic>
      <p:pic>
        <p:nvPicPr>
          <p:cNvPr id="3074" name="Picture 2" descr="Fig. 4">
            <a:extLst>
              <a:ext uri="{FF2B5EF4-FFF2-40B4-BE49-F238E27FC236}">
                <a16:creationId xmlns:a16="http://schemas.microsoft.com/office/drawing/2014/main" id="{88D8CFC8-6FA1-9047-A6B2-9E70A6726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87" y="3088418"/>
            <a:ext cx="571500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11C1FC06-E244-A1B1-3287-67851ECDAA2C}"/>
              </a:ext>
            </a:extLst>
          </p:cNvPr>
          <p:cNvSpPr txBox="1"/>
          <p:nvPr/>
        </p:nvSpPr>
        <p:spPr>
          <a:xfrm>
            <a:off x="7142098" y="6199906"/>
            <a:ext cx="4392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https://cdn.ncbi.nlm.nih.gov/pmc/blobs/531d/2673331/f0e364956162/nihms-82220-f0004.jpg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365908526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F4B75E0-9D7A-23B2-AE44-42A42ACC0CC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4F8DBD3-2FDF-4D33-9C25-3D0C21D3CCE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tekstu 3">
            <a:extLst>
              <a:ext uri="{FF2B5EF4-FFF2-40B4-BE49-F238E27FC236}">
                <a16:creationId xmlns:a16="http://schemas.microsoft.com/office/drawing/2014/main" id="{BBFB1089-C960-CEA2-A5F0-152C708C78B9}"/>
              </a:ext>
            </a:extLst>
          </p:cNvPr>
          <p:cNvSpPr txBox="1">
            <a:spLocks/>
          </p:cNvSpPr>
          <p:nvPr/>
        </p:nvSpPr>
        <p:spPr bwMode="auto">
          <a:xfrm>
            <a:off x="1007433" y="188640"/>
            <a:ext cx="11046299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l-PL" kern="0"/>
              <a:t>Metody</a:t>
            </a:r>
            <a:endParaRPr lang="pl-PL" kern="0" dirty="0"/>
          </a:p>
        </p:txBody>
      </p:sp>
      <p:sp>
        <p:nvSpPr>
          <p:cNvPr id="6" name="Symbol zastępczy tekstu 3">
            <a:extLst>
              <a:ext uri="{FF2B5EF4-FFF2-40B4-BE49-F238E27FC236}">
                <a16:creationId xmlns:a16="http://schemas.microsoft.com/office/drawing/2014/main" id="{D17893B1-F839-3055-468C-8D531842B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8063" y="1557338"/>
            <a:ext cx="11015662" cy="5256212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Do analizy danych użyto </a:t>
            </a:r>
            <a:r>
              <a:rPr lang="pl-PL" dirty="0" err="1"/>
              <a:t>Pythona</a:t>
            </a:r>
            <a:r>
              <a:rPr lang="pl-PL" dirty="0"/>
              <a:t> 3.11.0 wraz z pakietami </a:t>
            </a:r>
            <a:r>
              <a:rPr lang="pl-PL" dirty="0" err="1"/>
              <a:t>pandas</a:t>
            </a:r>
            <a:r>
              <a:rPr lang="pl-PL" dirty="0"/>
              <a:t>, </a:t>
            </a:r>
            <a:r>
              <a:rPr lang="pl-PL" dirty="0" err="1"/>
              <a:t>numpy</a:t>
            </a:r>
            <a:r>
              <a:rPr lang="pl-PL" dirty="0"/>
              <a:t>, </a:t>
            </a:r>
            <a:r>
              <a:rPr lang="pl-PL" dirty="0" err="1"/>
              <a:t>matplotlib</a:t>
            </a:r>
            <a:r>
              <a:rPr lang="pl-PL" dirty="0"/>
              <a:t> oraz </a:t>
            </a:r>
            <a:r>
              <a:rPr lang="pl-PL" dirty="0" err="1"/>
              <a:t>scipy.signal</a:t>
            </a:r>
            <a:r>
              <a:rPr lang="pl-PL" dirty="0"/>
              <a:t>, w tym funkcji </a:t>
            </a:r>
            <a:r>
              <a:rPr lang="pl-PL" dirty="0" err="1"/>
              <a:t>find_peaks</a:t>
            </a:r>
            <a:r>
              <a:rPr lang="pl-PL" dirty="0"/>
              <a:t> do wykrywania szczytów sygnału.</a:t>
            </a:r>
          </a:p>
        </p:txBody>
      </p:sp>
    </p:spTree>
    <p:extLst>
      <p:ext uri="{BB962C8B-B14F-4D97-AF65-F5344CB8AC3E}">
        <p14:creationId xmlns:p14="http://schemas.microsoft.com/office/powerpoint/2010/main" val="2040189392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DEC9CBA-91F5-F430-EA75-108AB516849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33545"/>
            <a:ext cx="11046299" cy="864096"/>
          </a:xfrm>
        </p:spPr>
        <p:txBody>
          <a:bodyPr/>
          <a:lstStyle/>
          <a:p>
            <a:r>
              <a:rPr lang="pl-PL" dirty="0"/>
              <a:t>Wstępne wyniki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0C4A4FF-7FB6-FFFD-5EEC-09673B549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04" y="809386"/>
            <a:ext cx="11026920" cy="293811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829946C-96D0-F826-5FD3-9398B15E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6" y="3869156"/>
            <a:ext cx="11227796" cy="298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41734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1B58-2864-654A-26F3-D5D8DA9A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06BB875-9303-106F-8138-0C90F1C9703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33545"/>
            <a:ext cx="11046299" cy="864096"/>
          </a:xfrm>
        </p:spPr>
        <p:txBody>
          <a:bodyPr/>
          <a:lstStyle/>
          <a:p>
            <a:r>
              <a:rPr lang="pl-PL" dirty="0"/>
              <a:t>Wstępne wyniki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114F335C-77B9-3CBC-09D7-7468B0DB7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54" y="763941"/>
            <a:ext cx="11184567" cy="2980116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D16BB7FE-B4DD-2A2E-BF83-582816A74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5" y="3829598"/>
            <a:ext cx="11184567" cy="297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03169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B8EAE8E9-C51A-BE6C-26BA-C6EA0B45FCB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53111923"/>
              </p:ext>
            </p:extLst>
          </p:nvPr>
        </p:nvGraphicFramePr>
        <p:xfrm>
          <a:off x="1199456" y="1184497"/>
          <a:ext cx="6624736" cy="3797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53935">
                  <a:extLst>
                    <a:ext uri="{9D8B030D-6E8A-4147-A177-3AD203B41FA5}">
                      <a16:colId xmlns:a16="http://schemas.microsoft.com/office/drawing/2014/main" val="2920292672"/>
                    </a:ext>
                  </a:extLst>
                </a:gridCol>
                <a:gridCol w="5570801">
                  <a:extLst>
                    <a:ext uri="{9D8B030D-6E8A-4147-A177-3AD203B41FA5}">
                      <a16:colId xmlns:a16="http://schemas.microsoft.com/office/drawing/2014/main" val="1834257638"/>
                    </a:ext>
                  </a:extLst>
                </a:gridCol>
              </a:tblGrid>
              <a:tr h="414040">
                <a:tc>
                  <a:txBody>
                    <a:bodyPr/>
                    <a:lstStyle/>
                    <a:p>
                      <a:r>
                        <a:rPr lang="pl-PL" sz="1800" dirty="0"/>
                        <a:t>nr klasy</a:t>
                      </a:r>
                    </a:p>
                  </a:txBody>
                  <a:tcPr>
                    <a:solidFill>
                      <a:srgbClr val="AAD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800" dirty="0"/>
                        <a:t>najdokładniejsza metoda</a:t>
                      </a:r>
                    </a:p>
                  </a:txBody>
                  <a:tcPr>
                    <a:solidFill>
                      <a:srgbClr val="AAD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682171"/>
                  </a:ext>
                </a:extLst>
              </a:tr>
              <a:tr h="630069">
                <a:tc>
                  <a:txBody>
                    <a:bodyPr/>
                    <a:lstStyle/>
                    <a:p>
                      <a:r>
                        <a:rPr lang="pl-PL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dirty="0" err="1"/>
                        <a:t>curvature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=2,082), </a:t>
                      </a:r>
                    </a:p>
                    <a:p>
                      <a:r>
                        <a:rPr lang="pl-PL" sz="1800" dirty="0" err="1"/>
                        <a:t>line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perpendicular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=2.145), </a:t>
                      </a:r>
                    </a:p>
                    <a:p>
                      <a:r>
                        <a:rPr lang="pl-PL" sz="1800" dirty="0" err="1"/>
                        <a:t>line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vertical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=2.145)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465900"/>
                  </a:ext>
                </a:extLst>
              </a:tr>
              <a:tr h="630069">
                <a:tc>
                  <a:txBody>
                    <a:bodyPr/>
                    <a:lstStyle/>
                    <a:p>
                      <a:r>
                        <a:rPr lang="pl-PL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1" dirty="0" err="1"/>
                        <a:t>curvature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=2,288),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dirty="0" err="1"/>
                        <a:t>line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perpendicular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=2.730),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dirty="0" err="1"/>
                        <a:t>line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vertical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=2.730)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048723"/>
                  </a:ext>
                </a:extLst>
              </a:tr>
              <a:tr h="630069">
                <a:tc>
                  <a:txBody>
                    <a:bodyPr/>
                    <a:lstStyle/>
                    <a:p>
                      <a:r>
                        <a:rPr lang="pl-PL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1" dirty="0" err="1"/>
                        <a:t>curvature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=1,575),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dirty="0" err="1"/>
                        <a:t>line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perpendicular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=2.576),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dirty="0" err="1"/>
                        <a:t>line</a:t>
                      </a:r>
                      <a:r>
                        <a:rPr lang="pl-PL" sz="1800" dirty="0"/>
                        <a:t> </a:t>
                      </a:r>
                      <a:r>
                        <a:rPr lang="pl-PL" sz="1800" dirty="0" err="1"/>
                        <a:t>vertical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=2.576)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504876"/>
                  </a:ext>
                </a:extLst>
              </a:tr>
              <a:tr h="630069">
                <a:tc>
                  <a:txBody>
                    <a:bodyPr/>
                    <a:lstStyle/>
                    <a:p>
                      <a:r>
                        <a:rPr lang="pl-PL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dirty="0" err="1"/>
                        <a:t>modified</a:t>
                      </a:r>
                      <a:r>
                        <a:rPr lang="pl-PL" sz="1800" b="1" dirty="0"/>
                        <a:t> </a:t>
                      </a:r>
                      <a:r>
                        <a:rPr lang="pl-PL" sz="1800" b="1" dirty="0" err="1"/>
                        <a:t>scholkmann</a:t>
                      </a:r>
                      <a:r>
                        <a:rPr lang="pl-PL" sz="1800" b="1" dirty="0"/>
                        <a:t> </a:t>
                      </a:r>
                      <a:r>
                        <a:rPr lang="pl-PL" sz="1800" dirty="0"/>
                        <a:t>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=0,04), </a:t>
                      </a:r>
                    </a:p>
                    <a:p>
                      <a:r>
                        <a:rPr lang="pl-PL" sz="1800" dirty="0" err="1"/>
                        <a:t>concave</a:t>
                      </a:r>
                      <a:r>
                        <a:rPr lang="pl-PL" sz="1800" dirty="0"/>
                        <a:t> (</a:t>
                      </a:r>
                      <a:r>
                        <a:rPr lang="pl-PL" sz="1800" dirty="0" err="1"/>
                        <a:t>Mean_XY_Error</a:t>
                      </a:r>
                      <a:r>
                        <a:rPr lang="pl-PL" sz="1800" dirty="0"/>
                        <a:t>=0,08)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801760"/>
                  </a:ext>
                </a:extLst>
              </a:tr>
            </a:tbl>
          </a:graphicData>
        </a:graphic>
      </p:graphicFrame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B2FE4D7-3F58-64D3-AD4E-8321A58B88D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44624"/>
            <a:ext cx="11046299" cy="1152128"/>
          </a:xfrm>
        </p:spPr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6145D04-1392-9129-32E5-3ADDEFDA4F9C}"/>
              </a:ext>
            </a:extLst>
          </p:cNvPr>
          <p:cNvSpPr txBox="1"/>
          <p:nvPr/>
        </p:nvSpPr>
        <p:spPr>
          <a:xfrm>
            <a:off x="8016216" y="326624"/>
            <a:ext cx="393643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latin typeface="Calibri" panose="020F0502020204030204" pitchFamily="34" charset="0"/>
                <a:cs typeface="Calibri" panose="020F0502020204030204" pitchFamily="34" charset="0"/>
              </a:rPr>
              <a:t>Dalsze kroki: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ustalenie optymalnych parametrów dla najdokładniejszych metod dla poszczególnych klas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dodawanie odpowiednich etykiet P1, P2, P3 do wyznaczonych pików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przetestowanie metod na mniej „książkowym” zestawie danych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l-PL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przetestowanie większej liczby algorytmów</a:t>
            </a:r>
            <a:endParaRPr lang="pl-P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374AC17-D117-56A4-974B-EA6767FC1525}"/>
              </a:ext>
            </a:extLst>
          </p:cNvPr>
          <p:cNvSpPr txBox="1"/>
          <p:nvPr/>
        </p:nvSpPr>
        <p:spPr>
          <a:xfrm>
            <a:off x="6023992" y="5189715"/>
            <a:ext cx="6624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l-PL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(potencjalnie wykorzystujących analizę 	częstotliwościową, uczenie maszynowe)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l-PL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dokładna analiza statystyczna ostatecznego algorytmu</a:t>
            </a: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02405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CEAB6D50-563E-1C2F-4176-8B1166DE1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71531" y="1052736"/>
            <a:ext cx="10152536" cy="554461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pl-PL" sz="1200" dirty="0"/>
              <a:t>C. Mataczyński, A. Kazimierska, A. Uryga, M. Burzyńska, A. Rusiecki and M. Kasprowicz, "End-to-End Automatic </a:t>
            </a:r>
            <a:r>
              <a:rPr lang="pl-PL" sz="1200" dirty="0" err="1"/>
              <a:t>Morphological</a:t>
            </a:r>
            <a:r>
              <a:rPr lang="pl-PL" sz="1200" dirty="0"/>
              <a:t> </a:t>
            </a:r>
            <a:r>
              <a:rPr lang="pl-PL" sz="1200" dirty="0" err="1"/>
              <a:t>Classification</a:t>
            </a:r>
            <a:r>
              <a:rPr lang="pl-PL" sz="1200" dirty="0"/>
              <a:t> of </a:t>
            </a:r>
            <a:r>
              <a:rPr lang="pl-PL" sz="1200" dirty="0" err="1"/>
              <a:t>Intracranial</a:t>
            </a:r>
            <a:r>
              <a:rPr lang="pl-PL" sz="1200" dirty="0"/>
              <a:t> </a:t>
            </a:r>
            <a:r>
              <a:rPr lang="pl-PL" sz="1200" dirty="0" err="1"/>
              <a:t>Pressure</a:t>
            </a:r>
            <a:r>
              <a:rPr lang="pl-PL" sz="1200" dirty="0"/>
              <a:t> </a:t>
            </a:r>
            <a:r>
              <a:rPr lang="pl-PL" sz="1200" dirty="0" err="1"/>
              <a:t>Pulse</a:t>
            </a:r>
            <a:r>
              <a:rPr lang="pl-PL" sz="1200" dirty="0"/>
              <a:t> </a:t>
            </a:r>
            <a:r>
              <a:rPr lang="pl-PL" sz="1200" dirty="0" err="1"/>
              <a:t>Waveforms</a:t>
            </a:r>
            <a:r>
              <a:rPr lang="pl-PL" sz="1200" dirty="0"/>
              <a:t> Using </a:t>
            </a:r>
            <a:r>
              <a:rPr lang="pl-PL" sz="1200" dirty="0" err="1"/>
              <a:t>Deep</a:t>
            </a:r>
            <a:r>
              <a:rPr lang="pl-PL" sz="1200" dirty="0"/>
              <a:t> Learning," in IEEE </a:t>
            </a:r>
            <a:r>
              <a:rPr lang="pl-PL" sz="1200" dirty="0" err="1"/>
              <a:t>Journal</a:t>
            </a:r>
            <a:r>
              <a:rPr lang="pl-PL" sz="1200" dirty="0"/>
              <a:t> of </a:t>
            </a:r>
            <a:r>
              <a:rPr lang="pl-PL" sz="1200" dirty="0" err="1"/>
              <a:t>Biomedical</a:t>
            </a:r>
            <a:r>
              <a:rPr lang="pl-PL" sz="1200" dirty="0"/>
              <a:t> and </a:t>
            </a:r>
            <a:r>
              <a:rPr lang="pl-PL" sz="1200" dirty="0" err="1"/>
              <a:t>Health</a:t>
            </a:r>
            <a:r>
              <a:rPr lang="pl-PL" sz="1200" dirty="0"/>
              <a:t> </a:t>
            </a:r>
            <a:r>
              <a:rPr lang="pl-PL" sz="1200" dirty="0" err="1"/>
              <a:t>Informatics</a:t>
            </a:r>
            <a:r>
              <a:rPr lang="pl-PL" sz="1200" dirty="0"/>
              <a:t>, vol. 26, no. 2, pp. 494-504, </a:t>
            </a:r>
            <a:r>
              <a:rPr lang="pl-PL" sz="1200" dirty="0" err="1"/>
              <a:t>Feb</a:t>
            </a:r>
            <a:r>
              <a:rPr lang="pl-PL" sz="1200" dirty="0"/>
              <a:t>. 2022, doi: 10.1109/JBHI.2021.3088629</a:t>
            </a:r>
          </a:p>
          <a:p>
            <a:pPr>
              <a:spcAft>
                <a:spcPts val="600"/>
              </a:spcAft>
            </a:pPr>
            <a:r>
              <a:rPr lang="pl-PL" sz="1200" dirty="0"/>
              <a:t>Bishop, Steven M, and </a:t>
            </a:r>
            <a:r>
              <a:rPr lang="pl-PL" sz="1200" dirty="0" err="1"/>
              <a:t>Ari</a:t>
            </a:r>
            <a:r>
              <a:rPr lang="pl-PL" sz="1200" dirty="0"/>
              <a:t> </a:t>
            </a:r>
            <a:r>
              <a:rPr lang="pl-PL" sz="1200" dirty="0" err="1"/>
              <a:t>Ercole</a:t>
            </a:r>
            <a:r>
              <a:rPr lang="pl-PL" sz="1200" dirty="0"/>
              <a:t>. “Multi-</a:t>
            </a:r>
            <a:r>
              <a:rPr lang="pl-PL" sz="1200" dirty="0" err="1"/>
              <a:t>Scale</a:t>
            </a:r>
            <a:r>
              <a:rPr lang="pl-PL" sz="1200" dirty="0"/>
              <a:t> </a:t>
            </a:r>
            <a:r>
              <a:rPr lang="pl-PL" sz="1200" dirty="0" err="1"/>
              <a:t>Peak</a:t>
            </a:r>
            <a:r>
              <a:rPr lang="pl-PL" sz="1200" dirty="0"/>
              <a:t> and </a:t>
            </a:r>
            <a:r>
              <a:rPr lang="pl-PL" sz="1200" dirty="0" err="1"/>
              <a:t>Trough</a:t>
            </a:r>
            <a:r>
              <a:rPr lang="pl-PL" sz="1200" dirty="0"/>
              <a:t> </a:t>
            </a:r>
            <a:r>
              <a:rPr lang="pl-PL" sz="1200" dirty="0" err="1"/>
              <a:t>Detection</a:t>
            </a:r>
            <a:r>
              <a:rPr lang="pl-PL" sz="1200" dirty="0"/>
              <a:t> </a:t>
            </a:r>
            <a:r>
              <a:rPr lang="pl-PL" sz="1200" dirty="0" err="1"/>
              <a:t>Optimised</a:t>
            </a:r>
            <a:r>
              <a:rPr lang="pl-PL" sz="1200" dirty="0"/>
              <a:t> for </a:t>
            </a:r>
            <a:r>
              <a:rPr lang="pl-PL" sz="1200" dirty="0" err="1"/>
              <a:t>Periodic</a:t>
            </a:r>
            <a:r>
              <a:rPr lang="pl-PL" sz="1200" dirty="0"/>
              <a:t> and Quasi-</a:t>
            </a:r>
            <a:r>
              <a:rPr lang="pl-PL" sz="1200" dirty="0" err="1"/>
              <a:t>Periodic</a:t>
            </a:r>
            <a:r>
              <a:rPr lang="pl-PL" sz="1200" dirty="0"/>
              <a:t> </a:t>
            </a:r>
            <a:r>
              <a:rPr lang="pl-PL" sz="1200" dirty="0" err="1"/>
              <a:t>Neuroscience</a:t>
            </a:r>
            <a:r>
              <a:rPr lang="pl-PL" sz="1200" dirty="0"/>
              <a:t> Data.” Acta </a:t>
            </a:r>
            <a:r>
              <a:rPr lang="pl-PL" sz="1200" dirty="0" err="1"/>
              <a:t>neurochirurgica</a:t>
            </a:r>
            <a:r>
              <a:rPr lang="pl-PL" sz="1200" dirty="0"/>
              <a:t>. </a:t>
            </a:r>
            <a:r>
              <a:rPr lang="pl-PL" sz="1200" dirty="0" err="1"/>
              <a:t>Supplement</a:t>
            </a:r>
            <a:r>
              <a:rPr lang="pl-PL" sz="1200" dirty="0"/>
              <a:t> vol. 126 (2018): 189-195. doi:10.1007/978-3-319-65798-1_39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M. C. Dewan, A. </a:t>
            </a:r>
            <a:r>
              <a:rPr lang="en-US" sz="1200" dirty="0" err="1"/>
              <a:t>Rattani</a:t>
            </a:r>
            <a:r>
              <a:rPr lang="en-US" sz="1200" dirty="0"/>
              <a:t>, S. Gupta, R. E. </a:t>
            </a:r>
            <a:r>
              <a:rPr lang="en-US" sz="1200" dirty="0" err="1"/>
              <a:t>Baticulon</a:t>
            </a:r>
            <a:r>
              <a:rPr lang="en-US" sz="1200" dirty="0"/>
              <a:t>, Y. C. Hung, M. Punchak, A. Agrawal, A. O. Adeleye, M. G. Shrime, A. M. Rubiano, J. V. Rosenfeld, K. B. Park, Estimating the global incidence of traumatic brain injury, Journal of Neurosurgery, 2019, 130(4), 1080–1097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L. A. </a:t>
            </a:r>
            <a:r>
              <a:rPr lang="en-US" sz="1200" dirty="0" err="1"/>
              <a:t>Calviello</a:t>
            </a:r>
            <a:r>
              <a:rPr lang="en-US" sz="1200" dirty="0"/>
              <a:t>, Clinical Applications of Neuromonitoring Following Acute Brain Injury, PhD Dissertation, University of Cambridge, 2019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J. </a:t>
            </a:r>
            <a:r>
              <a:rPr lang="en-US" sz="1200" dirty="0" err="1"/>
              <a:t>Sahuquillo</a:t>
            </a:r>
            <a:r>
              <a:rPr lang="en-US" sz="1200" dirty="0"/>
              <a:t>, M. A. Poca, M. Arribas, A. </a:t>
            </a:r>
            <a:r>
              <a:rPr lang="en-US" sz="1200" dirty="0" err="1"/>
              <a:t>Garnacho</a:t>
            </a:r>
            <a:r>
              <a:rPr lang="en-US" sz="1200" dirty="0"/>
              <a:t>, E. Rubio. Interhemispheric supra-tentorial intracranial pressure gradients in head-injured patients: are they clinically important?, Journal of Neurosurgery, 1999, 90, 16–26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F. Gjerris, J. Brennum, O. B. Paulson, P. S. Sørensen The cerebrospinal fluid, intracranial pressure and herniation of the brain, Clinical Neurology and Neurosurgery, 2004, 179–196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S. L. Bratton, R. M. </a:t>
            </a:r>
            <a:r>
              <a:rPr lang="en-US" sz="1200" dirty="0" err="1"/>
              <a:t>Chesnut</a:t>
            </a:r>
            <a:r>
              <a:rPr lang="en-US" sz="1200" dirty="0"/>
              <a:t>, J. Ghajar, Guidelines for the management of severe traumatic brain injury. VIII. Intracranial pressure thresholds, Journal of Neurotrauma, 2007, 24 (supplement 1), 55–58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H. Dai, X. Jia, L. </a:t>
            </a:r>
            <a:r>
              <a:rPr lang="en-US" sz="1200" dirty="0" err="1"/>
              <a:t>Pahren</a:t>
            </a:r>
            <a:r>
              <a:rPr lang="en-US" sz="1200" dirty="0"/>
              <a:t>, J. Lee, B. Foreman, Intracranial Pressure Monitoring Signals After Traumatic Brain Injury: A Narrative Overview and Conceptual Data Science Framework, Frontiers in Neurology, 2020, 11, 959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M. Czosnyka, P. </a:t>
            </a:r>
            <a:r>
              <a:rPr lang="en-US" sz="1200" dirty="0" err="1"/>
              <a:t>Smielewski</a:t>
            </a:r>
            <a:r>
              <a:rPr lang="en-US" sz="1200" dirty="0"/>
              <a:t>, I. Timofeev, Intracranial pressure: more than a number, Neurosurgical Focus, 2007, 22(5), E10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T. Ellis, J. McNames, M. Aboy, Pulse morphology visualization and analysis with applications in cardiovascular pressure signals, IEEE Transactions on Biomedical Engineering, 2007, 54(9), 1552–1559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J. Y. Fan, C. Kirkness, P. Vicini, R. Burr, P. Mitchell, Intracranial pressure waveform morphology and intracranial adaptive capacity, American Journal of Critical Care, 2008, 17(6), 545–554</a:t>
            </a:r>
            <a:endParaRPr lang="pl-PL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D. </a:t>
            </a:r>
            <a:r>
              <a:rPr lang="en-US" sz="1200" dirty="0" err="1"/>
              <a:t>Legé</a:t>
            </a:r>
            <a:r>
              <a:rPr lang="en-US" sz="1200" dirty="0"/>
              <a:t>, L. </a:t>
            </a:r>
            <a:r>
              <a:rPr lang="en-US" sz="1200" dirty="0" err="1"/>
              <a:t>Gergelé</a:t>
            </a:r>
            <a:r>
              <a:rPr lang="en-US" sz="1200" dirty="0"/>
              <a:t>, M. </a:t>
            </a:r>
            <a:r>
              <a:rPr lang="en-US" sz="1200" dirty="0" err="1"/>
              <a:t>Prud'homme</a:t>
            </a:r>
            <a:r>
              <a:rPr lang="en-US" sz="1200" dirty="0"/>
              <a:t>, J. C. </a:t>
            </a:r>
            <a:r>
              <a:rPr lang="en-US" sz="1200" dirty="0" err="1"/>
              <a:t>Lapayre</a:t>
            </a:r>
            <a:r>
              <a:rPr lang="en-US" sz="1200" dirty="0"/>
              <a:t>, Y. Launey, J. Henriet, A Deep Learning-Based Automated Framework for Subpeak Designation on Intracranial Pressure Signals, Sensors (Basel), 2023, 23(18), 7834</a:t>
            </a:r>
            <a:endParaRPr lang="pl-PL" sz="1200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E5DD4C-E6E5-E6EC-5634-94B84684E3D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871531" y="-603448"/>
            <a:ext cx="10152536" cy="2448272"/>
          </a:xfrm>
        </p:spPr>
        <p:txBody>
          <a:bodyPr/>
          <a:lstStyle/>
          <a:p>
            <a:r>
              <a:rPr lang="pl-PL" dirty="0"/>
              <a:t>Bibliografia</a:t>
            </a:r>
          </a:p>
        </p:txBody>
      </p:sp>
    </p:spTree>
    <p:extLst>
      <p:ext uri="{BB962C8B-B14F-4D97-AF65-F5344CB8AC3E}">
        <p14:creationId xmlns:p14="http://schemas.microsoft.com/office/powerpoint/2010/main" val="3875980149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szablon1-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zentacja_16x9_2024_EN_v1.pptx" id="{F5C931F4-DA4F-4909-B1BA-D82F393E5015}" vid="{89C86CC8-0679-45F0-929E-0A1214B0D019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prezentacja_16x9_2024_en_v1</Template>
  <TotalTime>546</TotalTime>
  <Words>1200</Words>
  <Application>Microsoft Office PowerPoint</Application>
  <PresentationFormat>Panoramiczny</PresentationFormat>
  <Paragraphs>89</Paragraphs>
  <Slides>12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szablon1-PL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 Jaworska</dc:creator>
  <cp:lastModifiedBy>Hanna Jaworska</cp:lastModifiedBy>
  <cp:revision>10</cp:revision>
  <cp:lastPrinted>2017-02-27T13:04:48Z</cp:lastPrinted>
  <dcterms:created xsi:type="dcterms:W3CDTF">2025-10-16T10:51:27Z</dcterms:created>
  <dcterms:modified xsi:type="dcterms:W3CDTF">2025-11-07T09:22:18Z</dcterms:modified>
</cp:coreProperties>
</file>